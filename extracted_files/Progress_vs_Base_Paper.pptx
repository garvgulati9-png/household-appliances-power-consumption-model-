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Linear
Reg.</c:v>
                  </c:pt>
                  <c:pt idx="1">
                    <c:v>Random
Forest</c:v>
                  </c:pt>
                  <c:pt idx="2">
                    <c:v>XGBoost
(default)</c:v>
                  </c:pt>
                  <c:pt idx="3">
                    <c:v>XGBoost
(tuned)</c:v>
                  </c:pt>
                  <c:pt idx="4">
                    <c:v>Ensemble
(capped)</c:v>
                  </c:pt>
                  <c:pt idx="5">
                    <c:v>Stacking
(tuned)</c:v>
                  </c:pt>
                  <c:pt idx="6">
                    <c:v>Hourly
(fixed)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0.615</c:v>
                </c:pt>
                <c:pt idx="1">
                  <c:v>0.637</c:v>
                </c:pt>
                <c:pt idx="2">
                  <c:v>0.653</c:v>
                </c:pt>
                <c:pt idx="3">
                  <c:v>0.656</c:v>
                </c:pt>
                <c:pt idx="4">
                  <c:v>0.663</c:v>
                </c:pt>
                <c:pt idx="5">
                  <c:v>0.637</c:v>
                </c:pt>
                <c:pt idx="6">
                  <c:v>0.412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12188952" cy="2377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34840"/>
            <a:ext cx="12188952" cy="54864"/>
          </a:xfrm>
          <a:prstGeom prst="rect">
            <a:avLst/>
          </a:prstGeom>
          <a:solidFill>
            <a:srgbClr val="5FD0C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HOUSEHOLD ENERGY CONSUMPTION</a:t>
            </a:r>
            <a:endParaRPr lang="en-US" sz="3800" dirty="0"/>
          </a:p>
          <a:p>
            <a:pPr algn="l"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46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Progress vs. the Base Research Paper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846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Regression Project  |  Team Review Deck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394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paper: Abd'Azeez &amp; Olatomiwa (2025), Journal of Electrical Systems and Inf. Technol.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We're Solving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household appliance energy usage from sensor data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09728" cy="1005840"/>
          </a:xfrm>
          <a:prstGeom prst="rect">
            <a:avLst/>
          </a:prstGeom>
          <a:solidFill>
            <a:srgbClr val="5FD0C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4630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1463040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temperature &amp; humidity (9 rooms), outdoor weather, and timestamp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09728" cy="1005840"/>
          </a:xfrm>
          <a:prstGeom prst="rect">
            <a:avLst/>
          </a:prstGeom>
          <a:solidFill>
            <a:srgbClr val="5FD0C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6517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651760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energy consumed by appliances, in Watt-hours (Wh)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109728" cy="1005840"/>
          </a:xfrm>
          <a:prstGeom prst="rect">
            <a:avLst/>
          </a:prstGeom>
          <a:solidFill>
            <a:srgbClr val="5FD0C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8404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3840480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prediction enables anomaly detection, demand planning, and smart-home energy apps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109728" cy="1005840"/>
          </a:xfrm>
          <a:prstGeom prst="rect">
            <a:avLst/>
          </a:prstGeom>
          <a:solidFill>
            <a:srgbClr val="5FD0C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50292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of problem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5029200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(predicting a number, not a category)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Energy Consumption Prediction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Paper: What They Did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machine learning-powered energy consumption prediction system with API"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public dataset (Candanedo et al.) — 19,735 rows, 10-min ZigBee sensor readings over 4.5 months, 29 raw features.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11064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Dropped 'lights' — large outliers, weak signal
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Removed outlier rows in 'Appliances' using the IQR method (not just capped — full removal)
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selection by correlation: dropped 9 weak features (Visibility, Tdewpoint, Windspeed, rv1, rv2, RH_5, Weekday, RH_1, RH_4), keeping 20 predictors
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 70/30 train-test split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8463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ExtraTreesRegressor (their proposed best), Support Vector Regressor, XGBoost — tuned with RandomizedSearchCV (10 iterations, 10-fold CV).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Energy Consumption Prediction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Paper: Results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ExtraTreesRegressor (ETR) was their best-performing model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2011680"/>
        </p:xfrm>
        <a:graphic>
          <a:graphicData uri="http://schemas.openxmlformats.org/drawingml/2006/table">
            <a:tbl>
              <a:tblPr/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Score (%)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 (%)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ExtraTrees (ETR)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3931920"/>
            <a:ext cx="10881360" cy="1005840"/>
          </a:xfrm>
          <a:prstGeom prst="rect">
            <a:avLst/>
          </a:prstGeom>
          <a:solidFill>
            <a:srgbClr val="F0F4FA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the base paper's win came mainly from aggressive outlier REMOVAL on the target (Appliances), which shrank its range from ~10–1080 Wh down to ~10–120 Wh — not from a fundamentally novel model.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Energy Consumption Prediction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Approach: What's the Same, What's Different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4846320"/>
          </a:xfrm>
          <a:prstGeom prst="rect">
            <a:avLst/>
          </a:prstGeom>
          <a:solidFill>
            <a:srgbClr val="F0F4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Base Paper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8463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raw dataset (10-min sensor readings)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'lights' feature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ensemble models (RF, XGBoost, ExtraTrees)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evaluation metrics: R², MAE, RMSE, MAPE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94960" cy="4846320"/>
          </a:xfrm>
          <a:prstGeom prst="rect">
            <a:avLst/>
          </a:prstGeom>
          <a:solidFill>
            <a:srgbClr val="FDF3E9"/>
          </a:solidFill>
          <a:ln w="12700">
            <a:solidFill>
              <a:srgbClr val="D98E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554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/ New in Ours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011680"/>
            <a:ext cx="48463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lag features (usage 10/20/30 min ago) — not used by base paper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rolling averages &amp; cyclical time encoding (sin/cos of hour, weekday, month)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chronological (time-based) split, not just random split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ensembling/stacking of multiple models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hourly aggregation — caught and fixed a data leakage bug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Energy Consumption Prediction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Results: Progression Over Time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 across each experiment (higher is better)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417320"/>
          <a:ext cx="11064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"Hourly (fixed)" dropped after removing a data-leakage bug found in an earlier, invalid 0.987 result.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Energy Consumption Prediction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 Along the Way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experiment needs to succeed to be valuable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01168" cy="201168"/>
          </a:xfrm>
          <a:prstGeom prst="oval">
            <a:avLst/>
          </a:prstGeom>
          <a:solidFill>
            <a:srgbClr val="5FD0C9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417320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Ensembling isn't automatic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389120" y="1417320"/>
            <a:ext cx="7132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similar models (XGB+RF+HGB) barely helped — they were making the same mistakes. Real gains need genuinely different models or features.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201168" cy="201168"/>
          </a:xfrm>
          <a:prstGeom prst="oval">
            <a:avLst/>
          </a:prstGeom>
          <a:solidFill>
            <a:srgbClr val="5FD0C9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651760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tuning ≠ better results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389120" y="2651760"/>
            <a:ext cx="7132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wider RandomizedSearchCV actually picked settings that overfit the CV folds and underperformed on the real test set.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201168" cy="201168"/>
          </a:xfrm>
          <a:prstGeom prst="oval">
            <a:avLst/>
          </a:prstGeom>
          <a:solidFill>
            <a:srgbClr val="5FD0C9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886200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caught a data leak ourselves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389120" y="3886200"/>
            <a:ext cx="7132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aggregation first gave R²=0.987 — too good to be true. We traced it to lag features leaking across the aggregation window, and fixed it before reporting a false result.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166360"/>
            <a:ext cx="201168" cy="201168"/>
          </a:xfrm>
          <a:prstGeom prst="oval">
            <a:avLst/>
          </a:prstGeom>
          <a:solidFill>
            <a:srgbClr val="5FD0C9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120640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lever was outlier handling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389120" y="5120640"/>
            <a:ext cx="7132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paper's edge came from fully removing outlier rows via IQR, not from a fundamentally different model.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Energy Consumption Prediction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Comparison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5120640" cy="4023360"/>
          </a:xfrm>
          <a:prstGeom prst="roundRect">
            <a:avLst>
              <a:gd name="adj" fmla="val 2273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74.41%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 (ExtraTreesRegressor)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8.82   |   RMSE: 11.75   |   MAPE: 16.27%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45720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method: full IQR outlier removal + correlation-based feature selection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5120640" cy="4023360"/>
          </a:xfrm>
          <a:prstGeom prst="roundRect">
            <a:avLst>
              <a:gd name="adj" fmla="val 2273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828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8F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 (current best)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09360" y="228600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65.6%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6309360" y="3429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F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 (tuned XGBoost)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3931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F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25.85   |   RMSE: 56.24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45720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3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experiment (IQR removal + our lag features) in progress — update this slide with the new result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Energy Consumption Prediction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Next Steps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394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Legitimate, leak-free best result: R² = 0.656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paper's benchmark: R² = 0.7441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is explained — mainly outlier-handling strategy, not model choice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30936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09360" y="1874520"/>
            <a:ext cx="5394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full IQR outlier removal + our lag/rolling features together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Re-tune ExtraTreesRegressor (paper's best model) on this combined setup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final number and update this deck before submission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206240"/>
            <a:ext cx="10881360" cy="146304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34340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this dataset is genuinely hard because appliance usage depends on human behaviour that sensors can't fully capture. Both our project and the base paper hit real limits — the value of this work is in understanding exactly why, and being honest about what does and doesn't help.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Energy Consumption Prediction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2026-08-30T17:40:53Z</dcterms:created>
  <dcterms:modified xsi:type="dcterms:W3CDTF">2026-08-30T17:40:53Z</dcterms:modified>
</cp:coreProperties>
</file>