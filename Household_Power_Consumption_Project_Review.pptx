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Project Review • 21CSC305P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51052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SRM Institute of Science and Technology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281160" y="164592"/>
            <a:ext cx="2651760" cy="2651760"/>
          </a:xfrm>
          <a:prstGeom prst="arc">
            <a:avLst/>
          </a:prstGeom>
          <a:solidFill>
            <a:srgbClr val="12355B">
              <a:alpha val="90000"/>
            </a:srgbClr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9372600" y="4069080"/>
            <a:ext cx="2331720" cy="2331720"/>
          </a:xfrm>
          <a:prstGeom prst="arc">
            <a:avLst/>
          </a:prstGeom>
          <a:solidFill>
            <a:srgbClr val="0F766E">
              <a:alpha val="88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9601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HOUSEHOLD POWER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CONSUMPTION PREDICTION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86384" y="2487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7F3D0"/>
                </a:solidFill>
              </a:rPr>
              <a:t>with Hybrid Ensemble Learning &amp; Multi-Tier Anomaly Detection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86384" y="3063240"/>
            <a:ext cx="1325880" cy="310896"/>
          </a:xfrm>
          <a:prstGeom prst="roundRect">
            <a:avLst>
              <a:gd name="adj" fmla="val 35294"/>
            </a:avLst>
          </a:prstGeom>
          <a:solidFill>
            <a:srgbClr val="1D4D67"/>
          </a:solidFill>
          <a:ln w="12700">
            <a:solidFill>
              <a:srgbClr val="1D4D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12724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PROJECT REVIEW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2286000" y="31181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Machine Learning  •  21CSC305P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" y="3749040"/>
            <a:ext cx="8138160" cy="1874520"/>
          </a:xfrm>
          <a:prstGeom prst="roundRect">
            <a:avLst>
              <a:gd name="adj" fmla="val 390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FA3B8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977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F3D0"/>
                </a:solidFill>
              </a:rPr>
              <a:t>Team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4315968"/>
            <a:ext cx="4114800" cy="9326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</a:rPr>
              <a:t>Nikhil Goyal  •  RA2411003010489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</a:rPr>
              <a:t>Umang Gupta  •  RA22110030100012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</a:rPr>
              <a:t>Garv Gulati  •  RA2411003010319</a:t>
            </a:r>
            <a:endParaRPr lang="en-US" sz="1310" dirty="0"/>
          </a:p>
        </p:txBody>
      </p:sp>
      <p:sp>
        <p:nvSpPr>
          <p:cNvPr id="13" name="Text 11"/>
          <p:cNvSpPr/>
          <p:nvPr/>
        </p:nvSpPr>
        <p:spPr>
          <a:xfrm>
            <a:off x="5760720" y="3977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F3D0"/>
                </a:solidFill>
              </a:rPr>
              <a:t>Faculty Guide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4343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Dr Rahul Gupta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760720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SRM Institute of Science and Technology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6384" y="5943600"/>
            <a:ext cx="4937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Based on Abd’Azeez &amp; Olatomiwa (2025)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Review Snapshot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What we changed, what improved, and why it matters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3832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" cy="1874520"/>
          </a:xfrm>
          <a:prstGeom prst="rect">
            <a:avLst/>
          </a:prstGeom>
          <a:solidFill>
            <a:srgbClr val="2E6FBA"/>
          </a:solidFill>
          <a:ln w="12700">
            <a:solidFill>
              <a:srgbClr val="2E6F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047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1  Prediction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856232"/>
            <a:ext cx="3017520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Predict household appliance energy use from timestamp, indoor climate and outdoor weather variables.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33832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325880"/>
            <a:ext cx="54864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49047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2  Improvement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1856232"/>
            <a:ext cx="3017520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Replace a single best regressor with a weighted hybrid ensemble: ExtraTrees + XGBoost + HistGradientBoosting.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74736" y="1325880"/>
            <a:ext cx="33832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4736" y="1325880"/>
            <a:ext cx="54864" cy="1874520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49047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3  Anomaly Action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75904" y="1856232"/>
            <a:ext cx="3017520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Add an operational anomaly engine combining Isolation Forest + residual rules + domain-aware labels.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97280" y="388620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023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4748B"/>
                </a:solidFill>
              </a:rPr>
              <a:t>FINAL R²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207008" y="4279392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75.04%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07008" y="4690872"/>
            <a:ext cx="19751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8A63"/>
                </a:solidFill>
              </a:rPr>
              <a:t>+0.63 pp vs paper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66160" y="388620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4023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4748B"/>
                </a:solidFill>
              </a:rPr>
              <a:t>FINAL MAPE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3675888" y="4279392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15.53%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75888" y="4690872"/>
            <a:ext cx="19751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8A63"/>
                </a:solidFill>
              </a:rPr>
              <a:t>−0.74 pp vs paper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88620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4023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4748B"/>
                </a:solidFill>
              </a:rPr>
              <a:t>TEST ANOMALIES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6144768" y="4279392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24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44768" y="4690872"/>
            <a:ext cx="19751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8A63"/>
                </a:solidFill>
              </a:rPr>
              <a:t>0.48% of test points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503920" y="388620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1080" y="4023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4748B"/>
                </a:solidFill>
              </a:rPr>
              <a:t>FEATURES USED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8613648" y="4279392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50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613648" y="4690872"/>
            <a:ext cx="19751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8A63"/>
                </a:solidFill>
              </a:rPr>
              <a:t>engineered predictors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5216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8794"/>
                </a:solidFill>
              </a:rPr>
              <a:t>Project notebook outputs: 16,740 operational records retained; 70/30 split; 5,022 test points.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Paper: What It Established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Abd’Azeez &amp; Olatomiwa, Journal of Electrical Systems and Information Technology (2025)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33832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61872"/>
            <a:ext cx="54864" cy="1874520"/>
          </a:xfrm>
          <a:prstGeom prst="rect">
            <a:avLst/>
          </a:prstGeom>
          <a:solidFill>
            <a:srgbClr val="2E6FBA"/>
          </a:solidFill>
          <a:ln w="12700">
            <a:solidFill>
              <a:srgbClr val="2E6F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2646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1792224"/>
            <a:ext cx="3017520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Accurate household energy prediction is difficult because usage is nonlinear, highly variable and influenced by time, weather and occupancy behaviour.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07408" y="1261872"/>
            <a:ext cx="33832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261872"/>
            <a:ext cx="54864" cy="1874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42646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Methods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1792224"/>
            <a:ext cx="3017520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Random Forest, XGBoost, SVR and ExtraTreesRegressor. The paper selected ExtraTrees after model comparison and hyperparameter tuning.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56448" y="1261872"/>
            <a:ext cx="338328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6448" y="1261872"/>
            <a:ext cx="54864" cy="1874520"/>
          </a:xfrm>
          <a:prstGeom prst="rect">
            <a:avLst/>
          </a:prstGeom>
          <a:solidFill>
            <a:srgbClr val="138A63"/>
          </a:solidFill>
          <a:ln w="12700">
            <a:solidFill>
              <a:srgbClr val="138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142646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Best Reported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7616" y="1792224"/>
            <a:ext cx="3017520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ExtraTreesRegressor: R² 74.41%, MAE 8.82 Wh, RMSE 11.75 Wh, MAPE 16.27%.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" y="3657600"/>
            <a:ext cx="10789920" cy="1508760"/>
          </a:xfrm>
          <a:prstGeom prst="roundRect">
            <a:avLst>
              <a:gd name="adj" fmla="val 3636"/>
            </a:avLst>
          </a:prstGeom>
          <a:solidFill>
            <a:srgbClr val="EAF3FB"/>
          </a:solidFill>
          <a:ln w="12700">
            <a:solidFill>
              <a:srgbClr val="C8DB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044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Important observation for our review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315968"/>
            <a:ext cx="1001268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The paper explicitly lists “develop a machine learning model capable of detecting anomalies” as an objective. In the reported methodology/results, anomalies are mainly addressed as outliers/variance during preprocessing and robustness evaluation; a separate operational anomaly-alerting pipeline is not reported.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85216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8794"/>
                </a:solidFill>
              </a:rPr>
              <a:t>Base paper: pp. 1–2 (objectives), pp. 9–10 (outlier treatment), pp. 18–25 (prediction results &amp; conclusion).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Experimental Setup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Same household appliance-energy dataset used for a fair benchmark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325880"/>
          <a:ext cx="4663440" cy="425196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Original observations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19,735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Raw variables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29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Date range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11 Jan 2016 – 27 May 2016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Sampling interval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10 minutes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Target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Appliances energy (Wh)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Operational range retained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10–120 Wh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Records retained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16,740 (84.8%)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Train / Test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70% / 30%</a:t>
                      </a:r>
                      <a:endParaRPr lang="en-US" sz="11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25880"/>
            <a:ext cx="544068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53328" y="1627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Key raw inputs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80760" y="21488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Indoor climate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0" y="21488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T1–T9, RH_1–RH_9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6080760" y="28803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Outdoor weather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28803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T_out, RH_out, pressure, wind, visibility, dew point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6080760" y="36118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Time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36118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date / hour / weekday / month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6080760" y="43434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Removed from learning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43434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rv1, rv2, lights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6080760" y="504748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3B"/>
                </a:solidFill>
              </a:rPr>
              <a:t>Why 10–120 Wh?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06640" y="500176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The notebook follows the operational range used for direct paper benchmarking and removes extreme target values before prediction.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85216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8794"/>
                </a:solidFill>
              </a:rPr>
              <a:t>Uploaded dataset JSON + project notebook cells 2–4.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End-to-End 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Prediction and anomaly detection are treated as two connected but distinct tasks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44475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" y="14173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51790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221284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1F33"/>
                </a:solidFill>
              </a:rPr>
              <a:t>Load &amp; audit</a:t>
            </a:r>
            <a:endParaRPr lang="en-US" sz="1170" dirty="0"/>
          </a:p>
        </p:txBody>
      </p:sp>
      <p:sp>
        <p:nvSpPr>
          <p:cNvPr id="8" name="Text 6"/>
          <p:cNvSpPr/>
          <p:nvPr/>
        </p:nvSpPr>
        <p:spPr>
          <a:xfrm>
            <a:off x="676656" y="261518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19,735 rows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011680" y="2670048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03704" y="1965960"/>
            <a:ext cx="144475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4173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51790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13432" y="221284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1F33"/>
                </a:solidFill>
              </a:rPr>
              <a:t>Filter &amp; clean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2313432" y="261518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10–120 Wh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648456" y="2670048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40480" y="1965960"/>
            <a:ext cx="144475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34256" y="14173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34256" y="151790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50208" y="221284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1F33"/>
                </a:solidFill>
              </a:rPr>
              <a:t>Engineer features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3950208" y="261518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50 predictors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285232" y="2670048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77256" y="1965960"/>
            <a:ext cx="144475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71032" y="14173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1032" y="151790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86984" y="221284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1F33"/>
                </a:solidFill>
              </a:rPr>
              <a:t>Train 3 models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5586984" y="261518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ETR + XGB + HGB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922008" y="2670048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14032" y="1965960"/>
            <a:ext cx="1444752" cy="1417320"/>
          </a:xfrm>
          <a:prstGeom prst="roundRect">
            <a:avLst>
              <a:gd name="adj" fmla="val 3871"/>
            </a:avLst>
          </a:prstGeom>
          <a:solidFill>
            <a:srgbClr val="E7F7F4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07808" y="14173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07808" y="151790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221284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1F33"/>
                </a:solidFill>
              </a:rPr>
              <a:t>Blend predictions</a:t>
            </a:r>
            <a:endParaRPr lang="en-US" sz="1170" dirty="0"/>
          </a:p>
        </p:txBody>
      </p:sp>
      <p:sp>
        <p:nvSpPr>
          <p:cNvPr id="32" name="Text 30"/>
          <p:cNvSpPr/>
          <p:nvPr/>
        </p:nvSpPr>
        <p:spPr>
          <a:xfrm>
            <a:off x="7223760" y="261518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positive Ridge weights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8558784" y="2670048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750808" y="1965960"/>
            <a:ext cx="1444752" cy="1417320"/>
          </a:xfrm>
          <a:prstGeom prst="roundRect">
            <a:avLst>
              <a:gd name="adj" fmla="val 3871"/>
            </a:avLst>
          </a:prstGeom>
          <a:solidFill>
            <a:srgbClr val="FDEDEC"/>
          </a:solidFill>
          <a:ln w="15240">
            <a:solidFill>
              <a:srgbClr val="E5A19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44584" y="1417320"/>
            <a:ext cx="457200" cy="457200"/>
          </a:xfrm>
          <a:prstGeom prst="ellipse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44584" y="151790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60536" y="221284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1F33"/>
                </a:solidFill>
              </a:rPr>
              <a:t>Detect anomalies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8860536" y="261518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Isolation Forest + residuals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10195560" y="2670048"/>
            <a:ext cx="21945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387584" y="1965960"/>
            <a:ext cx="144475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881360" y="14173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81360" y="151790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497312" y="221284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1F33"/>
                </a:solidFill>
              </a:rPr>
              <a:t>Classify alerts</a:t>
            </a:r>
            <a:endParaRPr lang="en-US" sz="1170" dirty="0"/>
          </a:p>
        </p:txBody>
      </p:sp>
      <p:sp>
        <p:nvSpPr>
          <p:cNvPr id="44" name="Text 42"/>
          <p:cNvSpPr/>
          <p:nvPr/>
        </p:nvSpPr>
        <p:spPr>
          <a:xfrm>
            <a:off x="10497312" y="261518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domain-aware categories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914400" y="4160520"/>
            <a:ext cx="10332720" cy="1234440"/>
          </a:xfrm>
          <a:prstGeom prst="roundRect">
            <a:avLst>
              <a:gd name="adj" fmla="val 4444"/>
            </a:avLst>
          </a:prstGeom>
          <a:solidFill>
            <a:srgbClr val="EFF6F8"/>
          </a:solidFill>
          <a:ln w="12700">
            <a:solidFill>
              <a:srgbClr val="C8DC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70432" y="442569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Design principle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560320" y="4315968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B1F33"/>
                </a:solidFill>
              </a:rPr>
              <a:t>Prediction answers “how much energy should this household use?”  •  Anomaly detection answers “is the observed behaviour unusual enough to trigger an alert?”</a:t>
            </a:r>
            <a:endParaRPr lang="en-US" sz="1330" dirty="0"/>
          </a:p>
        </p:txBody>
      </p:sp>
      <p:sp>
        <p:nvSpPr>
          <p:cNvPr id="48" name="Text 46"/>
          <p:cNvSpPr/>
          <p:nvPr/>
        </p:nvSpPr>
        <p:spPr>
          <a:xfrm>
            <a:off x="585216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8794"/>
                </a:solidFill>
              </a:rPr>
              <a:t>Project notebook cells 1–13.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Engineering: More Context Than the Base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We encode time cyclically and create occupancy / thermal context to help tree models learn behaviour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12080" cy="758952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4864" cy="7589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Cyclical 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856232"/>
            <a:ext cx="484632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Hour_sin/cos, time-slot sin/cos, month sin/cos, weekday sin/cos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5212080" cy="758952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94560"/>
            <a:ext cx="54864" cy="758952"/>
          </a:xfrm>
          <a:prstGeom prst="rect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35915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Occupancy heuristics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2724912"/>
            <a:ext cx="484632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Morning peak, evening peak, night standby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5212080" cy="758952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63240"/>
            <a:ext cx="54864" cy="7589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22783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Thermal summaries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6968" y="3593592"/>
            <a:ext cx="484632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Indoor mean / max / min, spread, indoor–outdoor ΔT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931920"/>
            <a:ext cx="5212080" cy="758952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931920"/>
            <a:ext cx="54864" cy="7589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409651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Humidity context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6968" y="4462272"/>
            <a:ext cx="484632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Indoor RH mean + dew-point depression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800600"/>
            <a:ext cx="5212080" cy="758952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800600"/>
            <a:ext cx="54864" cy="7589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96519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Room contrast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6968" y="5330952"/>
            <a:ext cx="4846320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Living-room temperature vs outdoor temperature</a:t>
            </a:r>
            <a:endParaRPr lang="en-US" sz="1150" dirty="0"/>
          </a:p>
        </p:txBody>
      </p:sp>
      <p:pic>
        <p:nvPicPr>
          <p:cNvPr id="24" name="Image 0" descr="/mnt/data/ml_project_asset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353312"/>
            <a:ext cx="5257800" cy="42519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355080" y="5532120"/>
            <a:ext cx="48006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F2937"/>
                </a:solidFill>
              </a:rPr>
              <a:t>Result: time-derived variables dominate the ranking, reinforcing the base paper’s finding that hour-of-day is highly informative.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585216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8794"/>
                </a:solidFill>
              </a:rPr>
              <a:t>Project notebook cell 3 and feature-importance output generated from the uploaded dataset.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Model: Hybrid Stacked Ensemble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Three strong nonlinear learners are blended instead of relying on one model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481328"/>
            <a:ext cx="2697480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7780">
            <a:solidFill>
              <a:srgbClr val="69A7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764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ExtraTrees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21854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400 trees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078992" y="2487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766E"/>
                </a:solidFill>
              </a:rPr>
              <a:t>48.1% notebook weight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258568" y="2926080"/>
            <a:ext cx="3822192" cy="7772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51960" y="1481328"/>
            <a:ext cx="2697480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7780">
            <a:solidFill>
              <a:srgbClr val="63B6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1764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XGBoost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16552" y="21854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700 estimators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416552" y="2487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766E"/>
                </a:solidFill>
              </a:rPr>
              <a:t>34.3% notebook weight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596128" y="2926080"/>
            <a:ext cx="484632" cy="7772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1481328"/>
            <a:ext cx="2697480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7780">
            <a:solidFill>
              <a:srgbClr val="C9A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1764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HistGradientBoosting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54112" y="21854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500 iterations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754112" y="2487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766E"/>
                </a:solidFill>
              </a:rPr>
              <a:t>17.6% notebook weight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933688" y="2926080"/>
            <a:ext cx="-2852928" cy="7772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86200" y="3675888"/>
            <a:ext cx="4389120" cy="1298448"/>
          </a:xfrm>
          <a:prstGeom prst="roundRect">
            <a:avLst>
              <a:gd name="adj" fmla="val 4930"/>
            </a:avLst>
          </a:prstGeom>
          <a:solidFill>
            <a:srgbClr val="E6F7F3"/>
          </a:solidFill>
          <a:ln w="17780">
            <a:solidFill>
              <a:srgbClr val="8FD3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4005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Positive Ridge Meta-Learner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60520" y="44165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Weighted blend → final household energy prediction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79392" y="5321808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55138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FINAL R² = 75.04%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85216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8794"/>
                </a:solidFill>
              </a:rPr>
              <a:t>Notebook output cell 6: optimized weights [ETR, XGB, HGB] = [0.481, 0.343, 0.176].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Performance: Base Paper vs Our Project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Our ensemble improves all four benchmark metrics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4748B"/>
                </a:solidFill>
              </a:rPr>
              <a:t>R² SCORE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841248" y="171907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75.04%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2130552"/>
            <a:ext cx="2112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8A63"/>
                </a:solidFill>
              </a:rPr>
              <a:t>+0.63 percentage points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4630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4748B"/>
                </a:solidFill>
              </a:rPr>
              <a:t>MAE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3355848" y="171907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8.62 Wh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55848" y="2130552"/>
            <a:ext cx="2112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8A63"/>
                </a:solidFill>
              </a:rPr>
              <a:t>−0.20 Wh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60720" y="13258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4630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4748B"/>
                </a:solidFill>
              </a:rPr>
              <a:t>RMSE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870448" y="171907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11.58 Wh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70448" y="2130552"/>
            <a:ext cx="2112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8A63"/>
                </a:solidFill>
              </a:rPr>
              <a:t>−0.17 Wh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75320" y="13258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4630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4748B"/>
                </a:solidFill>
              </a:rPr>
              <a:t>MAPE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385048" y="171907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15.53%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85048" y="2130552"/>
            <a:ext cx="2112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8A63"/>
                </a:solidFill>
              </a:rPr>
              <a:t>−0.74 percentage points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971800"/>
          <a:ext cx="9921240" cy="2331720"/>
        </p:xfrm>
        <a:graphic>
          <a:graphicData uri="http://schemas.openxmlformats.org/drawingml/2006/table">
            <a:tbl>
              <a:tblPr/>
              <a:tblGrid>
                <a:gridCol w="1828800"/>
                <a:gridCol w="2514600"/>
                <a:gridCol w="2514600"/>
                <a:gridCol w="2011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 Paper ETR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Our Ensemble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R²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74.41%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75.04%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↑ 0.63 pp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MAE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8.82 Wh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8.62 Wh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↓ 0.20 Wh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11.75 Wh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11.58 Wh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↓ 0.17 Wh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MAPE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16.27%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15.53%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↓ 0.74 pp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1325880" y="5577840"/>
            <a:ext cx="946404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F766E"/>
                </a:solidFill>
              </a:rPr>
              <a:t>Interpretation: the gains are modest but consistent — the project improves explanatory power while reducing absolute and percentage error.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585216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8794"/>
                </a:solidFill>
              </a:rPr>
              <a:t>Base paper Table 2 vs uploaded notebook cell 7.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Quality Diagnostics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model tracks the operational range well; large residuals are isolated for anomaly review</a:t>
            </a:r>
            <a:endParaRPr lang="en-US" sz="1150" dirty="0"/>
          </a:p>
        </p:txBody>
      </p:sp>
      <p:pic>
        <p:nvPicPr>
          <p:cNvPr id="4" name="Image 0" descr="/mnt/data/ml_project_assets/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34440"/>
            <a:ext cx="5440680" cy="4343400"/>
          </a:xfrm>
          <a:prstGeom prst="rect">
            <a:avLst/>
          </a:prstGeom>
        </p:spPr>
      </p:pic>
      <p:pic>
        <p:nvPicPr>
          <p:cNvPr id="5" name="Image 1" descr="/mnt/data/ml_project_assets/residu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234440"/>
            <a:ext cx="5394960" cy="4343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4480" y="55961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Actual vs predicted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7040880" y="55961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</a:rPr>
              <a:t>Residual distribution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85216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8794"/>
                </a:solidFill>
              </a:rPr>
              <a:t>Plots recreated from the uploaded dataset using the project notebook pipeline; reported project metrics follow saved notebook outputs.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Model Learns About Household Behaviour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Time-of-day remains one of the strongest signals</a:t>
            </a:r>
            <a:endParaRPr lang="en-US" sz="1150" dirty="0"/>
          </a:p>
        </p:txBody>
      </p:sp>
      <p:pic>
        <p:nvPicPr>
          <p:cNvPr id="4" name="Image 0" descr="/mnt/data/ml_project_assets/hour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34440"/>
            <a:ext cx="67208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99248" y="1353312"/>
            <a:ext cx="35661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99248" y="1353312"/>
            <a:ext cx="54864" cy="1143000"/>
          </a:xfrm>
          <a:prstGeom prst="rect">
            <a:avLst/>
          </a:prstGeom>
          <a:solidFill>
            <a:srgbClr val="2E6FBA"/>
          </a:solidFill>
          <a:ln w="12700">
            <a:solidFill>
              <a:srgbClr val="2E6F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0416" y="151790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Night / early morning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00416" y="1883664"/>
            <a:ext cx="320040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Lower typical household activity; unusual high consumption here is particularly informative for anomaly detection.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99248" y="2743200"/>
            <a:ext cx="35661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99248" y="2743200"/>
            <a:ext cx="54864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0416" y="290779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Morning &amp; evening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00416" y="3273552"/>
            <a:ext cx="320040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Higher usage aligns with routine appliance activity and occupancy patterns.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99248" y="4133088"/>
            <a:ext cx="35661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99248" y="4133088"/>
            <a:ext cx="54864" cy="1143000"/>
          </a:xfrm>
          <a:prstGeom prst="rect">
            <a:avLst/>
          </a:prstGeom>
          <a:solidFill>
            <a:srgbClr val="C7801E"/>
          </a:solidFill>
          <a:ln w="12700">
            <a:solidFill>
              <a:srgbClr val="C780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00416" y="42976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Why cyclical features help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900416" y="4663440"/>
            <a:ext cx="320040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Sin/cos transforms make 23:00 and 00:00 numerically close, preserving daily periodicity.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85216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8794"/>
                </a:solidFill>
              </a:rPr>
              <a:t>Base paper reports low night usage and daytime/evening peaks; our notebook adds cyclical time and occupancy features.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Research Gap We Addressed: Anomaly Detection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base paper acknowledges anomalies; our project converts that idea into an explicit detection and alerting layer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074920" cy="4251960"/>
          </a:xfrm>
          <a:prstGeom prst="roundRect">
            <a:avLst>
              <a:gd name="adj" fmla="val 150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6733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BA"/>
                </a:solidFill>
              </a:rPr>
              <a:t>BASE PAPER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148840"/>
            <a:ext cx="438912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✓ States anomaly detection as an objective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✓ Discusses anomalous / high-variance energy behaviour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✓ Uses IQR/outlier treatment during preprocessing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✓ Evaluates model robustness on noisy data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Not explicitly reported: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• a dedicated anomaly model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• anomaly counts / labels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• operational diagnostic alerts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327648" y="1417320"/>
            <a:ext cx="5074920" cy="4251960"/>
          </a:xfrm>
          <a:prstGeom prst="roundRect">
            <a:avLst>
              <a:gd name="adj" fmla="val 1505"/>
            </a:avLst>
          </a:prstGeom>
          <a:solidFill>
            <a:srgbClr val="ECFDF5"/>
          </a:solidFill>
          <a:ln w="12700">
            <a:solidFill>
              <a:srgbClr val="9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6733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OUR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1112" y="2148840"/>
            <a:ext cx="4315968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✓ Isolation Forest across engineered sensor features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✓ Dynamic residual thresholds using 3×IQR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✓ Combined rule prevents weak single-signal flags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✓ Domain-aware anomaly labels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✓ Serialised anomaly detector for deployment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✓ Live smart-meter simulation with human-readable diagnostics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833872" y="3063240"/>
            <a:ext cx="475488" cy="713232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8794"/>
                </a:solidFill>
              </a:rPr>
              <a:t>Base paper anomaly references: objective (p.2) and preprocessing/outlier handling (pp.9–10). Project notebook: cells 8, 12, 13.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Multi-Tier Anomaly Detection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An anomaly must be statistically unusual and operationally meaningful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1579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Tier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25420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Isolation Forest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5840" y="30266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Multivariate sensor anomaly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2880360" y="283464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192024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21579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Tier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94760" y="25420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Residual IQR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40480" y="30266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Large prediction error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715000" y="283464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92240" y="192024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1579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Fusion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29400" y="25420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Combined rule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75120" y="30266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Reduce weak false flags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8549640" y="283464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26880" y="192024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 w="16510">
            <a:solidFill>
              <a:srgbClr val="E5A19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91472" y="21579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3B"/>
                </a:solidFill>
              </a:rPr>
              <a:t>Diagnosis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64040" y="25420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Domain labels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509760" y="30266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Actionable alert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960120" y="4434840"/>
            <a:ext cx="10195560" cy="1078992"/>
          </a:xfrm>
          <a:prstGeom prst="roundRect">
            <a:avLst>
              <a:gd name="adj" fmla="val 5085"/>
            </a:avLst>
          </a:prstGeom>
          <a:solidFill>
            <a:srgbClr val="FFF7ED"/>
          </a:solidFill>
          <a:ln w="12700">
            <a:solidFill>
              <a:srgbClr val="F4C5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70916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801E"/>
                </a:solidFill>
              </a:rPr>
              <a:t>Alert categories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42032" y="46817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3"/>
                </a:solidFill>
              </a:rPr>
              <a:t>VAMPIRE_NIGHT_LOAD  •  CRITICAL_SPIKE_RUNAWAY  •  SUDDEN_DROP_MALFUNCTION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85216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8794"/>
                </a:solidFill>
              </a:rPr>
              <a:t>Notebook cell 8: IsolationForest contamination=2.5%; residual bounds = Q1−3×IQR and Q3+3×IQR.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Anomaly Results: We Turned Outliers into Diagnostics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24 anomalies detected among 5,022 test observations</a:t>
            </a:r>
            <a:endParaRPr lang="en-US" sz="1150" dirty="0"/>
          </a:p>
        </p:txBody>
      </p:sp>
      <p:pic>
        <p:nvPicPr>
          <p:cNvPr id="4" name="Image 0" descr="/mnt/data/ml_project_assets/anomaly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98448"/>
            <a:ext cx="521208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44768" y="1325880"/>
            <a:ext cx="5166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8232" y="1591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Most extreme examples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084832"/>
          <a:ext cx="4681728" cy="2468880"/>
        </p:xfrm>
        <a:graphic>
          <a:graphicData uri="http://schemas.openxmlformats.org/drawingml/2006/table">
            <a:tbl>
              <a:tblPr/>
              <a:tblGrid>
                <a:gridCol w="658368"/>
                <a:gridCol w="713232"/>
                <a:gridCol w="713232"/>
                <a:gridCol w="777240"/>
                <a:gridCol w="1783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</a:rPr>
                        <a:t>Hour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</a:rPr>
                        <a:t>Pred.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</a:rPr>
                        <a:t>Residual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02:00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110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41.7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+68.3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Vampire load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12:00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120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53.2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+66.8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Critical spike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18:00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120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55.4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+64.6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Critical spike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17:00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120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56.9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+63.1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Critical spike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19:00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120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58.1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+61.9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</a:rPr>
                        <a:t>Critical spike</a:t>
                      </a:r>
                      <a:endParaRPr lang="en-US" sz="960" dirty="0"/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0" y="4773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Notebook breakdown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882128" y="47548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23 critical spike/runaway  •  1 vampire night load  •  4,998 normal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85216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8794"/>
                </a:solidFill>
              </a:rPr>
              <a:t>Uploaded notebook cells 8–9.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Contributions, Limitations &amp;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What is complete now, and what would make the system production-ready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3429000" cy="43434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98448"/>
            <a:ext cx="54864" cy="4343400"/>
          </a:xfrm>
          <a:prstGeom prst="rect">
            <a:avLst/>
          </a:prstGeom>
          <a:solidFill>
            <a:srgbClr val="138A63"/>
          </a:solidFill>
          <a:ln w="12700">
            <a:solidFill>
              <a:srgbClr val="138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630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Our Contributions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828800"/>
            <a:ext cx="306324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Reproduced the base-paper benchmark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Expanded to 50 engineered features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Built a 3-model weighted ensemble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Improved R², MAE, RMSE and MAPE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Implemented dedicated anomaly detection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Added actionable anomaly categories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Serialized prediction + anomaly models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298448"/>
            <a:ext cx="3429000" cy="43434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298448"/>
            <a:ext cx="54864" cy="4343400"/>
          </a:xfrm>
          <a:prstGeom prst="rect">
            <a:avLst/>
          </a:prstGeom>
          <a:solidFill>
            <a:srgbClr val="C7801E"/>
          </a:solidFill>
          <a:ln w="12700">
            <a:solidFill>
              <a:srgbClr val="C780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4630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Current Limitations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1828800"/>
            <a:ext cx="306324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Benchmark is still one household dataset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Filtered 10–120 Wh range excludes extreme loads from prediction training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Ensemble weights were fitted using the test predictions in the notebook, so a validation/meta-training split would be more rigorous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Anomaly labels are heuristic/domain rules, not ground-truth fault labels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298448"/>
            <a:ext cx="3429000" cy="43434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298448"/>
            <a:ext cx="54864" cy="4343400"/>
          </a:xfrm>
          <a:prstGeom prst="rect">
            <a:avLst/>
          </a:prstGeom>
          <a:solidFill>
            <a:srgbClr val="2E6FBA"/>
          </a:solidFill>
          <a:ln w="12700">
            <a:solidFill>
              <a:srgbClr val="2E6F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4630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93608" y="1828800"/>
            <a:ext cx="306324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Use nested train/validation/test splits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Evaluate on multiple homes / seasons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Tune anomaly thresholds using labelled events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Add SHAP-based explanations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Stream live smart-meter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Deploy dashboard/API with alert history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Compare with LSTM / temporal models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5216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7B8794"/>
                </a:solidFill>
              </a:rPr>
              <a:t>Project review assessment based on the uploaded notebook implementation and the base paper methodology.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777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" y="1298448"/>
            <a:ext cx="7040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improved.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Anomalies became actionable.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04672" y="2816352"/>
            <a:ext cx="70408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BD5E1"/>
                </a:solidFill>
              </a:rPr>
              <a:t>Our project extends the base paper from a strong household energy predictor into a hybrid prediction + anomaly-monitoring system.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86384" y="3886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12355B"/>
          </a:solidFill>
          <a:ln w="12700">
            <a:solidFill>
              <a:srgbClr val="365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40965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75.04%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72384" y="3886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12355B"/>
          </a:solidFill>
          <a:ln w="12700">
            <a:solidFill>
              <a:srgbClr val="365A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40965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15.53%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MAPE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58384" y="3886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12355B"/>
          </a:solidFill>
          <a:ln w="12700">
            <a:solidFill>
              <a:srgbClr val="365A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04688" y="40965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Anomalies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0" y="19385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A7F3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850392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Questions?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18704" y="43434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Nikhil Goyal  •  Umang Gupta  •  Garv Gulati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CBD5E1"/>
                </a:solidFill>
              </a:rPr>
              <a:t>Faculty Guide: Dr Rahul Gupta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86384" y="5989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</a:rPr>
              <a:t>Base paper: Abd’Azeez &amp; Olatomiwa (2025), Journal of Electrical Systems and Information Technology, 12:50.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SRM Institute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Household Power Consumption Prediction &amp; Anomaly Detection</dc:title>
  <dc:subject>Machine Learning Project Review</dc:subject>
  <dc:creator>OpenAI</dc:creator>
  <cp:lastModifiedBy>OpenAI</cp:lastModifiedBy>
  <cp:revision>1</cp:revision>
  <dcterms:created xsi:type="dcterms:W3CDTF">2026-09-13T18:45:42Z</dcterms:created>
  <dcterms:modified xsi:type="dcterms:W3CDTF">2026-09-13T18:45:42Z</dcterms:modified>
</cp:coreProperties>
</file>