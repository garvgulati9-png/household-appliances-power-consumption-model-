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5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954C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Lighting</c:v>
                </c:pt>
                <c:pt idx="1">
                  <c:v>Hour</c:v>
                </c:pt>
                <c:pt idx="2">
                  <c:v>Temp Kit.</c:v>
                </c:pt>
                <c:pt idx="3">
                  <c:v>Humidity</c:v>
                </c:pt>
                <c:pt idx="4">
                  <c:v>Press.</c:v>
                </c:pt>
                <c:pt idx="5">
                  <c:v>Windspeed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0.24</c:v>
                </c:pt>
                <c:pt idx="1">
                  <c:v>0.21</c:v>
                </c:pt>
                <c:pt idx="2">
                  <c:v>0.18</c:v>
                </c:pt>
                <c:pt idx="3">
                  <c:v>0.15</c:v>
                </c:pt>
                <c:pt idx="4">
                  <c:v>0.12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0C-42BC-B8D6-F9B713C72E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B5495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0-50</c:v>
                </c:pt>
                <c:pt idx="1">
                  <c:v>50-100</c:v>
                </c:pt>
                <c:pt idx="2">
                  <c:v>100-150</c:v>
                </c:pt>
                <c:pt idx="3">
                  <c:v>150-200</c:v>
                </c:pt>
                <c:pt idx="4">
                  <c:v>200-300</c:v>
                </c:pt>
                <c:pt idx="5">
                  <c:v>300+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3200</c:v>
                </c:pt>
                <c:pt idx="1">
                  <c:v>8500</c:v>
                </c:pt>
                <c:pt idx="2">
                  <c:v>4600</c:v>
                </c:pt>
                <c:pt idx="3">
                  <c:v>1900</c:v>
                </c:pt>
                <c:pt idx="4">
                  <c:v>900</c:v>
                </c:pt>
                <c:pt idx="5">
                  <c:v>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2D-4017-924E-3DF5AA14F4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flat">
              <a:solidFill>
                <a:srgbClr val="6D2E46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D2E46"/>
              </a:solidFill>
              <a:ln w="9525" cap="flat">
                <a:solidFill>
                  <a:srgbClr val="6D2E46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  <c:pt idx="8">
                  <c:v>170</c:v>
                </c:pt>
                <c:pt idx="9">
                  <c:v>190</c:v>
                </c:pt>
                <c:pt idx="10">
                  <c:v>210</c:v>
                </c:pt>
                <c:pt idx="11">
                  <c:v>230</c:v>
                </c:pt>
                <c:pt idx="12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11-47BD-A93E-5D3F387BD4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</c:v>
                </c:pt>
              </c:strCache>
            </c:strRef>
          </c:tx>
          <c:spPr>
            <a:ln w="25400" cap="flat">
              <a:solidFill>
                <a:srgbClr val="B5495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B5495B"/>
              </a:solidFill>
              <a:ln w="9525" cap="flat">
                <a:solidFill>
                  <a:srgbClr val="B5495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12</c:v>
                </c:pt>
                <c:pt idx="1">
                  <c:v>33</c:v>
                </c:pt>
                <c:pt idx="2">
                  <c:v>48</c:v>
                </c:pt>
                <c:pt idx="3">
                  <c:v>74</c:v>
                </c:pt>
                <c:pt idx="4">
                  <c:v>86</c:v>
                </c:pt>
                <c:pt idx="5">
                  <c:v>116</c:v>
                </c:pt>
                <c:pt idx="6">
                  <c:v>124</c:v>
                </c:pt>
                <c:pt idx="7">
                  <c:v>158</c:v>
                </c:pt>
                <c:pt idx="8">
                  <c:v>163</c:v>
                </c:pt>
                <c:pt idx="9">
                  <c:v>205</c:v>
                </c:pt>
                <c:pt idx="10">
                  <c:v>198</c:v>
                </c:pt>
                <c:pt idx="11">
                  <c:v>242</c:v>
                </c:pt>
                <c:pt idx="12">
                  <c:v>238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11-47BD-A93E-5D3F387BD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5F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BF5F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B5495B">
                <a:alpha val="100000"/>
              </a:srgbClr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6D2E46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
Regression</c:v>
                </c:pt>
                <c:pt idx="1">
                  <c:v>Random
Forest</c:v>
                </c:pt>
                <c:pt idx="2">
                  <c:v>Extra
Trees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0.17</c:v>
                </c:pt>
                <c:pt idx="1">
                  <c:v>0.56699999999999995</c:v>
                </c:pt>
                <c:pt idx="2">
                  <c:v>0.63600000000000001</c:v>
                </c:pt>
                <c:pt idx="3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3F-4DA0-8315-5582F7FB21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F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31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1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6.png"/><Relationship Id="rId9" Type="http://schemas.openxmlformats.org/officeDocument/2006/relationships/image" Target="../media/image22.png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5943600" cy="5943600"/>
          </a:xfrm>
          <a:prstGeom prst="ellipse">
            <a:avLst/>
          </a:prstGeom>
          <a:solidFill>
            <a:srgbClr val="954C66">
              <a:alpha val="30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9692640" y="5120640"/>
            <a:ext cx="4114800" cy="4114800"/>
          </a:xfrm>
          <a:prstGeom prst="ellipse">
            <a:avLst/>
          </a:prstGeom>
          <a:solidFill>
            <a:srgbClr val="B5495B">
              <a:alpha val="25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954C66">
              <a:alpha val="35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0" descr="/home/claude/proj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7808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713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PROJECT  —  MACHINE LEARNING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Power Consumption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using Machine Learning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58368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machine learning approach to forecast residential energy usage for smarter, more efficient homes.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892040"/>
            <a:ext cx="7165848" cy="1417320"/>
          </a:xfrm>
          <a:prstGeom prst="roundRect">
            <a:avLst>
              <a:gd name="adj" fmla="val 580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Shape 8"/>
          <p:cNvSpPr/>
          <p:nvPr/>
        </p:nvSpPr>
        <p:spPr>
          <a:xfrm>
            <a:off x="841248" y="5184648"/>
            <a:ext cx="502920" cy="502920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2" name="Image 1" descr="/home/claude/proj/icons/usergradua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530534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5111496"/>
            <a:ext cx="250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463040" y="5330825"/>
            <a:ext cx="560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Nikhil Goyal</a:t>
            </a:r>
            <a:r>
              <a:rPr lang="en-US" sz="12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•  RA2411003010489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Umang Gupta</a:t>
            </a:r>
            <a:r>
              <a:rPr lang="en-US" sz="12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•  RA2211003010012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Garv Gulati</a:t>
            </a:r>
            <a:r>
              <a:rPr lang="en-US" sz="12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•  RA2411003010319</a:t>
            </a:r>
          </a:p>
        </p:txBody>
      </p:sp>
      <p:sp>
        <p:nvSpPr>
          <p:cNvPr id="15" name="Shape 11"/>
          <p:cNvSpPr/>
          <p:nvPr/>
        </p:nvSpPr>
        <p:spPr>
          <a:xfrm>
            <a:off x="8125968" y="4892040"/>
            <a:ext cx="3422904" cy="1417320"/>
          </a:xfrm>
          <a:prstGeom prst="roundRect">
            <a:avLst>
              <a:gd name="adj" fmla="val 580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6" name="Shape 12"/>
          <p:cNvSpPr/>
          <p:nvPr/>
        </p:nvSpPr>
        <p:spPr>
          <a:xfrm>
            <a:off x="8327136" y="5184648"/>
            <a:ext cx="502920" cy="502920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7" name="Image 2" descr="/home/claude/proj/icons/univers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837" y="5305349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48928" y="5111496"/>
            <a:ext cx="250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948928" y="5394960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SRM College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720840" cy="4709160"/>
          </a:xfrm>
          <a:prstGeom prst="roundRect">
            <a:avLst>
              <a:gd name="adj" fmla="val 155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566928" cy="56692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0" descr="/home/claude/proj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18277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6420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Household Electricity Demand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1993392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Urbanization, appliance proliferation, and comfort-driven usage are pushing residential electricity consumption steadily upward each year.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3172968"/>
            <a:ext cx="566928" cy="56692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0" name="Image 1" descr="/home/claude/proj/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3" y="3309031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145536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Accurate Energy Prediction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347472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and homeowners lack reliable, data-driven tools to anticipate consumption patterns, leading to inefficient planning and higher costs.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68680" y="4654296"/>
            <a:ext cx="566928" cy="56692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4" name="Image 2" descr="/home/claude/proj/icons/hom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3" y="4790359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62686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in Smart Homes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600200" y="4956048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forecasts enable smart-home automation, demand-side management, and real-time energy optimization for a sustainable future.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452360" y="1417320"/>
            <a:ext cx="4160520" cy="4709160"/>
          </a:xfrm>
          <a:prstGeom prst="roundRect">
            <a:avLst>
              <a:gd name="adj" fmla="val 175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8" name="Text 13"/>
          <p:cNvSpPr/>
          <p:nvPr/>
        </p:nvSpPr>
        <p:spPr>
          <a:xfrm>
            <a:off x="777240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77240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25%+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7772400" y="2651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electricity is consumed by residential households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772400" y="34472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3–5%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7772400" y="39502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energy savings enabled by predictive smart-home systems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772400" y="4745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7772400" y="52486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required for effective demand-side energy management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98598" cy="4206240"/>
          </a:xfrm>
          <a:prstGeom prst="roundRect">
            <a:avLst>
              <a:gd name="adj" fmla="val 3294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86459" y="2468880"/>
            <a:ext cx="822960" cy="82296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7" name="Image 0" descr="/home/claude/proj/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969" y="266639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66160"/>
            <a:ext cx="20413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Power Consumption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206240"/>
            <a:ext cx="20413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models that accurately forecast household energy usage from environmental and time-based features.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2998" y="1600200"/>
            <a:ext cx="2498598" cy="4206240"/>
          </a:xfrm>
          <a:prstGeom prst="roundRect">
            <a:avLst>
              <a:gd name="adj" fmla="val 3294"/>
            </a:avLst>
          </a:prstGeom>
          <a:solidFill>
            <a:srgbClr val="F3E7EA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3641598" y="1874520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250817" y="2468880"/>
            <a:ext cx="822960" cy="82296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3" name="Image 1" descr="/home/claude/proj/icons/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327" y="266639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41598" y="3566160"/>
            <a:ext cx="20413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Algorithms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41598" y="4206240"/>
            <a:ext cx="20413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multiple regression algorithms under identical conditions to understand their relative strengths.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7356" y="1600200"/>
            <a:ext cx="2498598" cy="4206240"/>
          </a:xfrm>
          <a:prstGeom prst="roundRect">
            <a:avLst>
              <a:gd name="adj" fmla="val 3294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7" name="Text 13"/>
          <p:cNvSpPr/>
          <p:nvPr/>
        </p:nvSpPr>
        <p:spPr>
          <a:xfrm>
            <a:off x="6505956" y="1874520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7115175" y="2468880"/>
            <a:ext cx="822960" cy="82296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9" name="Image 2" descr="/home/claude/proj/icons/troph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685" y="2666390"/>
            <a:ext cx="427939" cy="42793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05956" y="3566160"/>
            <a:ext cx="20413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 Model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05956" y="4206240"/>
            <a:ext cx="20413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highest-performing algorithm based on rigorous, standardized evaluation metrics.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41714" y="1600200"/>
            <a:ext cx="2498598" cy="4206240"/>
          </a:xfrm>
          <a:prstGeom prst="roundRect">
            <a:avLst>
              <a:gd name="adj" fmla="val 3294"/>
            </a:avLst>
          </a:prstGeom>
          <a:solidFill>
            <a:srgbClr val="F3E7EA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3" name="Text 18"/>
          <p:cNvSpPr/>
          <p:nvPr/>
        </p:nvSpPr>
        <p:spPr>
          <a:xfrm>
            <a:off x="9370314" y="1874520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979533" y="2468880"/>
            <a:ext cx="822960" cy="82296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5" name="Image 3" descr="/home/claude/proj/icons/chart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7043" y="2666390"/>
            <a:ext cx="427939" cy="42793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70314" y="3566160"/>
            <a:ext cx="20413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Accuracy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370314" y="4206240"/>
            <a:ext cx="20413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features and tuning strategies to continually push prediction accuracy higher.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Energy Prediction Dataset (Smart Home Energy)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7" name="Image 0" descr="/home/claude/proj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0409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871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19,735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8529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80360" y="17373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Shape 8"/>
          <p:cNvSpPr/>
          <p:nvPr/>
        </p:nvSpPr>
        <p:spPr>
          <a:xfrm>
            <a:off x="3063240" y="1920240"/>
            <a:ext cx="502920" cy="502920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2" name="Image 1" descr="/home/claude/proj/icons/layergro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941" y="204094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63240" y="24871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063240" y="28529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212080" y="17373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6" name="Shape 12"/>
          <p:cNvSpPr/>
          <p:nvPr/>
        </p:nvSpPr>
        <p:spPr>
          <a:xfrm>
            <a:off x="5394960" y="1920240"/>
            <a:ext cx="502920" cy="502920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7" name="Image 2" descr="/home/claude/proj/icons/bulls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661" y="204094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24871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5394960" y="28529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Appliances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Time Features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3703320"/>
            <a:ext cx="1673352" cy="1234440"/>
          </a:xfrm>
          <a:prstGeom prst="roundRect">
            <a:avLst>
              <a:gd name="adj" fmla="val 5185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2" name="Shape 17"/>
          <p:cNvSpPr/>
          <p:nvPr/>
        </p:nvSpPr>
        <p:spPr>
          <a:xfrm>
            <a:off x="1110996" y="3840480"/>
            <a:ext cx="548640" cy="54864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3" name="Image 3" descr="/home/claude/proj/icons/thermomet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670" y="397215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94360" y="44805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276856" y="3703320"/>
            <a:ext cx="1673352" cy="1234440"/>
          </a:xfrm>
          <a:prstGeom prst="roundRect">
            <a:avLst>
              <a:gd name="adj" fmla="val 5185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6" name="Shape 20"/>
          <p:cNvSpPr/>
          <p:nvPr/>
        </p:nvSpPr>
        <p:spPr>
          <a:xfrm>
            <a:off x="2839212" y="3840480"/>
            <a:ext cx="548640" cy="54864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7" name="Image 4" descr="/home/claude/proj/icons/tin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0886" y="397215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322576" y="44805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005072" y="3703320"/>
            <a:ext cx="1673352" cy="1234440"/>
          </a:xfrm>
          <a:prstGeom prst="roundRect">
            <a:avLst>
              <a:gd name="adj" fmla="val 5185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Shape 23"/>
          <p:cNvSpPr/>
          <p:nvPr/>
        </p:nvSpPr>
        <p:spPr>
          <a:xfrm>
            <a:off x="4567428" y="3840480"/>
            <a:ext cx="548640" cy="54864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1" name="Image 5" descr="/home/claude/proj/icons/win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102" y="39721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050792" y="44805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733288" y="3703320"/>
            <a:ext cx="1673352" cy="1234440"/>
          </a:xfrm>
          <a:prstGeom prst="roundRect">
            <a:avLst>
              <a:gd name="adj" fmla="val 5185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4" name="Shape 26"/>
          <p:cNvSpPr/>
          <p:nvPr/>
        </p:nvSpPr>
        <p:spPr>
          <a:xfrm>
            <a:off x="6295644" y="3840480"/>
            <a:ext cx="548640" cy="54864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5" name="Image 6" descr="/home/claude/proj/icons/chartba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7318" y="3972154"/>
            <a:ext cx="285293" cy="28529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779008" y="44805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548640" y="5029200"/>
            <a:ext cx="1673352" cy="1234440"/>
          </a:xfrm>
          <a:prstGeom prst="roundRect">
            <a:avLst>
              <a:gd name="adj" fmla="val 5185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8" name="Shape 29"/>
          <p:cNvSpPr/>
          <p:nvPr/>
        </p:nvSpPr>
        <p:spPr>
          <a:xfrm>
            <a:off x="1110996" y="5166360"/>
            <a:ext cx="548640" cy="54864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9" name="Image 7" descr="/home/claude/proj/icons/ey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2670" y="5298034"/>
            <a:ext cx="285293" cy="285293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94360" y="580644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2276856" y="5029200"/>
            <a:ext cx="1673352" cy="1234440"/>
          </a:xfrm>
          <a:prstGeom prst="roundRect">
            <a:avLst>
              <a:gd name="adj" fmla="val 5185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2" name="Shape 32"/>
          <p:cNvSpPr/>
          <p:nvPr/>
        </p:nvSpPr>
        <p:spPr>
          <a:xfrm>
            <a:off x="2839212" y="5166360"/>
            <a:ext cx="548640" cy="54864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43" name="Image 8" descr="/home/claude/proj/icons/cloud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0886" y="5298034"/>
            <a:ext cx="285293" cy="285293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2322576" y="580644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 Point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4005072" y="5029200"/>
            <a:ext cx="1673352" cy="1234440"/>
          </a:xfrm>
          <a:prstGeom prst="roundRect">
            <a:avLst>
              <a:gd name="adj" fmla="val 5185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6" name="Shape 35"/>
          <p:cNvSpPr/>
          <p:nvPr/>
        </p:nvSpPr>
        <p:spPr>
          <a:xfrm>
            <a:off x="4567428" y="5166360"/>
            <a:ext cx="548640" cy="54864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47" name="Image 9" descr="/home/claude/proj/icons/lightbulb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9102" y="5298034"/>
            <a:ext cx="285293" cy="285293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4050792" y="580644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1050" dirty="0"/>
          </a:p>
        </p:txBody>
      </p:sp>
      <p:sp>
        <p:nvSpPr>
          <p:cNvPr id="49" name="Shape 37"/>
          <p:cNvSpPr/>
          <p:nvPr/>
        </p:nvSpPr>
        <p:spPr>
          <a:xfrm>
            <a:off x="5733288" y="5029200"/>
            <a:ext cx="1673352" cy="1234440"/>
          </a:xfrm>
          <a:prstGeom prst="roundRect">
            <a:avLst>
              <a:gd name="adj" fmla="val 5185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0" name="Shape 38"/>
          <p:cNvSpPr/>
          <p:nvPr/>
        </p:nvSpPr>
        <p:spPr>
          <a:xfrm>
            <a:off x="6295644" y="5166360"/>
            <a:ext cx="548640" cy="548640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51" name="Image 10" descr="/home/claude/proj/icons/calendar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7318" y="5298034"/>
            <a:ext cx="285293" cy="285293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5779008" y="580644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050" dirty="0"/>
          </a:p>
        </p:txBody>
      </p:sp>
      <p:sp>
        <p:nvSpPr>
          <p:cNvPr id="53" name="Text 40"/>
          <p:cNvSpPr/>
          <p:nvPr/>
        </p:nvSpPr>
        <p:spPr>
          <a:xfrm>
            <a:off x="763524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13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057400"/>
          <a:ext cx="4023360" cy="3566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Appliances (Wh)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Interval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+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home sensors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56" name="Text 4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7" name="Shape 4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E9E6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0" descr="/home/claude/proj/icons/filea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928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801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 loaded using Pandas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E9E6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9" name="Image 1" descr="/home/claude/proj/icons/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4871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3957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found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E9E6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2" name="Image 2" descr="/home/claude/proj/icons/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815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2990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found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70332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Text 10"/>
          <p:cNvSpPr/>
          <p:nvPr/>
        </p:nvSpPr>
        <p:spPr>
          <a:xfrm>
            <a:off x="73152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7724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Hour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77240" y="4507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77240" y="48554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Month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77240" y="52029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Weekday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77240" y="5550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Weekend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337560" y="370332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BE8E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2" name="Text 17"/>
          <p:cNvSpPr/>
          <p:nvPr/>
        </p:nvSpPr>
        <p:spPr>
          <a:xfrm>
            <a:off x="352044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56616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566160" y="4507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rv1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566160" y="48554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rv2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00800" y="1417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Workflow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400800" y="182880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8" name="Shape 23"/>
          <p:cNvSpPr/>
          <p:nvPr/>
        </p:nvSpPr>
        <p:spPr>
          <a:xfrm>
            <a:off x="6537960" y="1911096"/>
            <a:ext cx="493776" cy="493776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9" name="Image 3" descr="/home/claude/proj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466" y="2029602"/>
            <a:ext cx="256764" cy="2567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78040" y="182880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JSON Data (Pandas)</a:t>
            </a:r>
            <a:endParaRPr lang="en-US" sz="1250" dirty="0"/>
          </a:p>
        </p:txBody>
      </p:sp>
      <p:pic>
        <p:nvPicPr>
          <p:cNvPr id="31" name="Image 4" descr="/home/claude/proj/icons/arrowdown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2487168"/>
            <a:ext cx="201168" cy="16459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400800" y="265176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3" name="Shape 26"/>
          <p:cNvSpPr/>
          <p:nvPr/>
        </p:nvSpPr>
        <p:spPr>
          <a:xfrm>
            <a:off x="6537960" y="2734056"/>
            <a:ext cx="493776" cy="493776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4" name="Image 5" descr="/home/claude/proj/icons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466" y="2852562"/>
            <a:ext cx="256764" cy="2567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78040" y="26517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&amp; Duplicate Values</a:t>
            </a:r>
            <a:endParaRPr lang="en-US" sz="1250" dirty="0"/>
          </a:p>
        </p:txBody>
      </p:sp>
      <p:pic>
        <p:nvPicPr>
          <p:cNvPr id="36" name="Image 6" descr="/home/claude/proj/icons/arrowdown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3310128"/>
            <a:ext cx="201168" cy="164592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6400800" y="347472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8" name="Shape 29"/>
          <p:cNvSpPr/>
          <p:nvPr/>
        </p:nvSpPr>
        <p:spPr>
          <a:xfrm>
            <a:off x="6537960" y="3557016"/>
            <a:ext cx="493776" cy="493776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9" name="Image 7" descr="/home/claude/proj/icons/cog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466" y="3675522"/>
            <a:ext cx="256764" cy="25676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178040" y="34747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(Hour, Day, Month...)</a:t>
            </a:r>
            <a:endParaRPr lang="en-US" sz="1250" dirty="0"/>
          </a:p>
        </p:txBody>
      </p:sp>
      <p:pic>
        <p:nvPicPr>
          <p:cNvPr id="41" name="Image 8" descr="/home/claude/proj/icons/arrowdown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133088"/>
            <a:ext cx="201168" cy="164592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6400800" y="429768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3" name="Shape 32"/>
          <p:cNvSpPr/>
          <p:nvPr/>
        </p:nvSpPr>
        <p:spPr>
          <a:xfrm>
            <a:off x="6537960" y="4379976"/>
            <a:ext cx="493776" cy="493776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44" name="Image 9" descr="/home/claude/proj/icons/scissor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466" y="4498482"/>
            <a:ext cx="256764" cy="25676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178040" y="429768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Columns</a:t>
            </a:r>
            <a:endParaRPr lang="en-US" sz="1250" dirty="0"/>
          </a:p>
        </p:txBody>
      </p:sp>
      <p:pic>
        <p:nvPicPr>
          <p:cNvPr id="46" name="Image 10" descr="/home/claude/proj/icons/arrowdown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956048"/>
            <a:ext cx="201168" cy="16459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6400800" y="512064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8" name="Shape 35"/>
          <p:cNvSpPr/>
          <p:nvPr/>
        </p:nvSpPr>
        <p:spPr>
          <a:xfrm>
            <a:off x="6537960" y="5202936"/>
            <a:ext cx="493776" cy="493776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49" name="Image 11" descr="/home/claude/proj/icons/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466" y="5321442"/>
            <a:ext cx="256764" cy="25676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7178040" y="51206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Model-Ready Dataset</a:t>
            </a:r>
            <a:endParaRPr lang="en-US" sz="1250" dirty="0"/>
          </a:p>
        </p:txBody>
      </p:sp>
      <p:sp>
        <p:nvSpPr>
          <p:cNvPr id="51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52" name="Text 3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3" name="Shape 3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85800" y="14904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187452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234440" y="16184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234440" y="1874520"/>
            <a:ext cx="347472" cy="347472"/>
          </a:xfrm>
          <a:prstGeom prst="rect">
            <a:avLst/>
          </a:prstGeom>
          <a:solidFill>
            <a:srgbClr val="954C6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1600200" y="1874520"/>
            <a:ext cx="347472" cy="347472"/>
          </a:xfrm>
          <a:prstGeom prst="rect">
            <a:avLst/>
          </a:prstGeom>
          <a:solidFill>
            <a:srgbClr val="C0392B">
              <a:alpha val="2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0" name="Shape 8"/>
          <p:cNvSpPr/>
          <p:nvPr/>
        </p:nvSpPr>
        <p:spPr>
          <a:xfrm>
            <a:off x="1965960" y="1874520"/>
            <a:ext cx="347472" cy="347472"/>
          </a:xfrm>
          <a:prstGeom prst="rect">
            <a:avLst/>
          </a:prstGeom>
          <a:solidFill>
            <a:srgbClr val="C0392B">
              <a:alpha val="41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2331720" y="1874520"/>
            <a:ext cx="347472" cy="347472"/>
          </a:xfrm>
          <a:prstGeom prst="rect">
            <a:avLst/>
          </a:prstGeom>
          <a:solidFill>
            <a:srgbClr val="954C66">
              <a:alpha val="23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Shape 10"/>
          <p:cNvSpPr/>
          <p:nvPr/>
        </p:nvSpPr>
        <p:spPr>
          <a:xfrm>
            <a:off x="2697480" y="1874520"/>
            <a:ext cx="347472" cy="347472"/>
          </a:xfrm>
          <a:prstGeom prst="rect">
            <a:avLst/>
          </a:prstGeom>
          <a:solidFill>
            <a:srgbClr val="954C66">
              <a:alpha val="4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667512" y="224028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00200" y="16184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234440" y="2240280"/>
            <a:ext cx="347472" cy="347472"/>
          </a:xfrm>
          <a:prstGeom prst="rect">
            <a:avLst/>
          </a:prstGeom>
          <a:solidFill>
            <a:srgbClr val="C0392B">
              <a:alpha val="2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6" name="Shape 14"/>
          <p:cNvSpPr/>
          <p:nvPr/>
        </p:nvSpPr>
        <p:spPr>
          <a:xfrm>
            <a:off x="1600200" y="2240280"/>
            <a:ext cx="347472" cy="347472"/>
          </a:xfrm>
          <a:prstGeom prst="rect">
            <a:avLst/>
          </a:prstGeom>
          <a:solidFill>
            <a:srgbClr val="954C6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Shape 15"/>
          <p:cNvSpPr/>
          <p:nvPr/>
        </p:nvSpPr>
        <p:spPr>
          <a:xfrm>
            <a:off x="1965960" y="2240280"/>
            <a:ext cx="347472" cy="347472"/>
          </a:xfrm>
          <a:prstGeom prst="rect">
            <a:avLst/>
          </a:prstGeom>
          <a:solidFill>
            <a:srgbClr val="C0392B">
              <a:alpha val="53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Shape 16"/>
          <p:cNvSpPr/>
          <p:nvPr/>
        </p:nvSpPr>
        <p:spPr>
          <a:xfrm>
            <a:off x="2331720" y="2240280"/>
            <a:ext cx="347472" cy="347472"/>
          </a:xfrm>
          <a:prstGeom prst="rect">
            <a:avLst/>
          </a:prstGeom>
          <a:solidFill>
            <a:srgbClr val="954C66">
              <a:alpha val="19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Shape 17"/>
          <p:cNvSpPr/>
          <p:nvPr/>
        </p:nvSpPr>
        <p:spPr>
          <a:xfrm>
            <a:off x="2697480" y="2240280"/>
            <a:ext cx="347472" cy="347472"/>
          </a:xfrm>
          <a:prstGeom prst="rect">
            <a:avLst/>
          </a:prstGeom>
          <a:solidFill>
            <a:srgbClr val="C0392B">
              <a:alpha val="32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0" name="Text 18"/>
          <p:cNvSpPr/>
          <p:nvPr/>
        </p:nvSpPr>
        <p:spPr>
          <a:xfrm>
            <a:off x="667512" y="26060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965960" y="16184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234440" y="2606040"/>
            <a:ext cx="347472" cy="347472"/>
          </a:xfrm>
          <a:prstGeom prst="rect">
            <a:avLst/>
          </a:prstGeom>
          <a:solidFill>
            <a:srgbClr val="C0392B">
              <a:alpha val="41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Shape 21"/>
          <p:cNvSpPr/>
          <p:nvPr/>
        </p:nvSpPr>
        <p:spPr>
          <a:xfrm>
            <a:off x="1600200" y="2606040"/>
            <a:ext cx="347472" cy="347472"/>
          </a:xfrm>
          <a:prstGeom prst="rect">
            <a:avLst/>
          </a:prstGeom>
          <a:solidFill>
            <a:srgbClr val="C0392B">
              <a:alpha val="53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Shape 22"/>
          <p:cNvSpPr/>
          <p:nvPr/>
        </p:nvSpPr>
        <p:spPr>
          <a:xfrm>
            <a:off x="1965960" y="2606040"/>
            <a:ext cx="347472" cy="347472"/>
          </a:xfrm>
          <a:prstGeom prst="rect">
            <a:avLst/>
          </a:prstGeom>
          <a:solidFill>
            <a:srgbClr val="954C6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Shape 23"/>
          <p:cNvSpPr/>
          <p:nvPr/>
        </p:nvSpPr>
        <p:spPr>
          <a:xfrm>
            <a:off x="2331720" y="2606040"/>
            <a:ext cx="347472" cy="347472"/>
          </a:xfrm>
          <a:prstGeom prst="rect">
            <a:avLst/>
          </a:prstGeom>
          <a:solidFill>
            <a:srgbClr val="C0392B">
              <a:alpha val="2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6" name="Shape 24"/>
          <p:cNvSpPr/>
          <p:nvPr/>
        </p:nvSpPr>
        <p:spPr>
          <a:xfrm>
            <a:off x="2697480" y="2606040"/>
            <a:ext cx="347472" cy="347472"/>
          </a:xfrm>
          <a:prstGeom prst="rect">
            <a:avLst/>
          </a:prstGeom>
          <a:solidFill>
            <a:srgbClr val="C0392B">
              <a:alpha val="23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Text 25"/>
          <p:cNvSpPr/>
          <p:nvPr/>
        </p:nvSpPr>
        <p:spPr>
          <a:xfrm>
            <a:off x="667512" y="297180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331720" y="16184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234440" y="2971800"/>
            <a:ext cx="347472" cy="347472"/>
          </a:xfrm>
          <a:prstGeom prst="rect">
            <a:avLst/>
          </a:prstGeom>
          <a:solidFill>
            <a:srgbClr val="954C66">
              <a:alpha val="23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Shape 28"/>
          <p:cNvSpPr/>
          <p:nvPr/>
        </p:nvSpPr>
        <p:spPr>
          <a:xfrm>
            <a:off x="1600200" y="2971800"/>
            <a:ext cx="347472" cy="347472"/>
          </a:xfrm>
          <a:prstGeom prst="rect">
            <a:avLst/>
          </a:prstGeom>
          <a:solidFill>
            <a:srgbClr val="954C66">
              <a:alpha val="19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1" name="Shape 29"/>
          <p:cNvSpPr/>
          <p:nvPr/>
        </p:nvSpPr>
        <p:spPr>
          <a:xfrm>
            <a:off x="1965960" y="2971800"/>
            <a:ext cx="347472" cy="347472"/>
          </a:xfrm>
          <a:prstGeom prst="rect">
            <a:avLst/>
          </a:prstGeom>
          <a:solidFill>
            <a:srgbClr val="C0392B">
              <a:alpha val="2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2" name="Shape 30"/>
          <p:cNvSpPr/>
          <p:nvPr/>
        </p:nvSpPr>
        <p:spPr>
          <a:xfrm>
            <a:off x="2331720" y="2971800"/>
            <a:ext cx="347472" cy="347472"/>
          </a:xfrm>
          <a:prstGeom prst="rect">
            <a:avLst/>
          </a:prstGeom>
          <a:solidFill>
            <a:srgbClr val="954C6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3" name="Shape 31"/>
          <p:cNvSpPr/>
          <p:nvPr/>
        </p:nvSpPr>
        <p:spPr>
          <a:xfrm>
            <a:off x="2697480" y="2971800"/>
            <a:ext cx="347472" cy="347472"/>
          </a:xfrm>
          <a:prstGeom prst="rect">
            <a:avLst/>
          </a:prstGeom>
          <a:solidFill>
            <a:srgbClr val="954C66">
              <a:alpha val="22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4" name="Text 32"/>
          <p:cNvSpPr/>
          <p:nvPr/>
        </p:nvSpPr>
        <p:spPr>
          <a:xfrm>
            <a:off x="667512" y="333756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697480" y="16184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234440" y="3337560"/>
            <a:ext cx="347472" cy="347472"/>
          </a:xfrm>
          <a:prstGeom prst="rect">
            <a:avLst/>
          </a:prstGeom>
          <a:solidFill>
            <a:srgbClr val="954C66">
              <a:alpha val="4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7" name="Shape 35"/>
          <p:cNvSpPr/>
          <p:nvPr/>
        </p:nvSpPr>
        <p:spPr>
          <a:xfrm>
            <a:off x="1600200" y="3337560"/>
            <a:ext cx="347472" cy="347472"/>
          </a:xfrm>
          <a:prstGeom prst="rect">
            <a:avLst/>
          </a:prstGeom>
          <a:solidFill>
            <a:srgbClr val="C0392B">
              <a:alpha val="32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8" name="Shape 36"/>
          <p:cNvSpPr/>
          <p:nvPr/>
        </p:nvSpPr>
        <p:spPr>
          <a:xfrm>
            <a:off x="1965960" y="3337560"/>
            <a:ext cx="347472" cy="347472"/>
          </a:xfrm>
          <a:prstGeom prst="rect">
            <a:avLst/>
          </a:prstGeom>
          <a:solidFill>
            <a:srgbClr val="C0392B">
              <a:alpha val="23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9" name="Shape 37"/>
          <p:cNvSpPr/>
          <p:nvPr/>
        </p:nvSpPr>
        <p:spPr>
          <a:xfrm>
            <a:off x="2331720" y="3337560"/>
            <a:ext cx="347472" cy="347472"/>
          </a:xfrm>
          <a:prstGeom prst="rect">
            <a:avLst/>
          </a:prstGeom>
          <a:solidFill>
            <a:srgbClr val="954C66">
              <a:alpha val="22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0" name="Shape 38"/>
          <p:cNvSpPr/>
          <p:nvPr/>
        </p:nvSpPr>
        <p:spPr>
          <a:xfrm>
            <a:off x="2697480" y="3337560"/>
            <a:ext cx="347472" cy="347472"/>
          </a:xfrm>
          <a:prstGeom prst="rect">
            <a:avLst/>
          </a:prstGeom>
          <a:solidFill>
            <a:srgbClr val="954C6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Text 39"/>
          <p:cNvSpPr/>
          <p:nvPr/>
        </p:nvSpPr>
        <p:spPr>
          <a:xfrm>
            <a:off x="434340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50" dirty="0"/>
          </a:p>
        </p:txBody>
      </p:sp>
      <p:graphicFrame>
        <p:nvGraphicFramePr>
          <p:cNvPr id="42" name="Chart 0"/>
          <p:cNvGraphicFramePr/>
          <p:nvPr/>
        </p:nvGraphicFramePr>
        <p:xfrm>
          <a:off x="4206240" y="1691640"/>
          <a:ext cx="37947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Text 40"/>
          <p:cNvSpPr/>
          <p:nvPr/>
        </p:nvSpPr>
        <p:spPr>
          <a:xfrm>
            <a:off x="8321040" y="1417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150" dirty="0"/>
          </a:p>
        </p:txBody>
      </p:sp>
      <p:graphicFrame>
        <p:nvGraphicFramePr>
          <p:cNvPr id="44" name="Chart 1"/>
          <p:cNvGraphicFramePr/>
          <p:nvPr/>
        </p:nvGraphicFramePr>
        <p:xfrm>
          <a:off x="8183880" y="1691640"/>
          <a:ext cx="35661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5" name="Text 41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(Best Model — Extra Trees)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548640" y="429768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graphicFrame>
        <p:nvGraphicFramePr>
          <p:cNvPr id="47" name="Chart 2"/>
          <p:cNvGraphicFramePr/>
          <p:nvPr/>
        </p:nvGraphicFramePr>
        <p:xfrm>
          <a:off x="685800" y="4389120"/>
          <a:ext cx="50749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8" name="Shape 43"/>
          <p:cNvSpPr/>
          <p:nvPr/>
        </p:nvSpPr>
        <p:spPr>
          <a:xfrm>
            <a:off x="6080760" y="397764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9" name="Shape 44"/>
          <p:cNvSpPr/>
          <p:nvPr/>
        </p:nvSpPr>
        <p:spPr>
          <a:xfrm>
            <a:off x="6309360" y="4206240"/>
            <a:ext cx="502920" cy="502920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50" name="Image 0" descr="/home/claude/proj/icons/light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061" y="4326941"/>
            <a:ext cx="261518" cy="26151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6949440" y="4224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350" dirty="0"/>
          </a:p>
        </p:txBody>
      </p:sp>
      <p:sp>
        <p:nvSpPr>
          <p:cNvPr id="52" name="Text 46"/>
          <p:cNvSpPr/>
          <p:nvPr/>
        </p:nvSpPr>
        <p:spPr>
          <a:xfrm>
            <a:off x="6355080" y="48006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Lighting and hour-of-day show the strongest correlation with Appliances usage.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6355080" y="52212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 variable (Appliances) is right-skewed, with most readings under 100 Wh.</a:t>
            </a:r>
            <a:endParaRPr lang="en-US" sz="1050" dirty="0"/>
          </a:p>
        </p:txBody>
      </p:sp>
      <p:sp>
        <p:nvSpPr>
          <p:cNvPr id="54" name="Text 48"/>
          <p:cNvSpPr/>
          <p:nvPr/>
        </p:nvSpPr>
        <p:spPr>
          <a:xfrm>
            <a:off x="6355080" y="56418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Weak correlation among most weather features avoids severe multicollinearity.</a:t>
            </a:r>
            <a:endParaRPr lang="en-US" sz="1050" dirty="0"/>
          </a:p>
        </p:txBody>
      </p:sp>
      <p:sp>
        <p:nvSpPr>
          <p:cNvPr id="55" name="Text 49"/>
          <p:cNvSpPr/>
          <p:nvPr/>
        </p:nvSpPr>
        <p:spPr>
          <a:xfrm>
            <a:off x="6355080" y="60624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Predicted values closely track actual values, confirming good model fit.</a:t>
            </a:r>
            <a:endParaRPr lang="en-US" sz="1050" dirty="0"/>
          </a:p>
        </p:txBody>
      </p:sp>
      <p:sp>
        <p:nvSpPr>
          <p:cNvPr id="56" name="Text 5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related works surveyed to position the proposed methodology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92840" cy="45720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/ Publisher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(Base)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ML-Powered Energy Consumption Prediction System with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Extra Trees,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SVR, XGBoost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Deployable API; Extra Trees R² ≈ 0.74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real-time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Electricity Prediction Using DB Combinations &amp; Ensemble/Hybrid Modeling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Sci. Reports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&amp; Hybrid Models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multiple databases for robustness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computational complexity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Residential Electricity Forecast with Temperature &amp; Integrated Deep Learning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(Integrated)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temperature-driven demand well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large training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Household Energy Forecasting Using Multivariate LSTM with Weather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Elsevier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Multivariate LSTM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sequential/time patterns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training time, tuning-heavy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Sustainable EnergySense: Predictive ML Framework for Optimizing Residential Electricity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Framework (Multi-model)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sustainability &amp; optimization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feature diversity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Shap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1216152" y="1856232"/>
            <a:ext cx="658368" cy="65836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0" descr="/home/claude/proj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160" y="201424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0604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6072" y="1746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9" name="Image 1" descr="/home/claude/proj/icons/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468" y="2409444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61488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Shape 7"/>
          <p:cNvSpPr/>
          <p:nvPr/>
        </p:nvSpPr>
        <p:spPr>
          <a:xfrm>
            <a:off x="3474720" y="1856232"/>
            <a:ext cx="658368" cy="65836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2" name="Image 2" descr="/home/claude/proj/icon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728" y="2014240"/>
            <a:ext cx="342351" cy="3423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52928" y="260604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2834640" y="1746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5" name="Image 3" descr="/home/claude/proj/icons/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6" y="2409444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20056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Shape 11"/>
          <p:cNvSpPr/>
          <p:nvPr/>
        </p:nvSpPr>
        <p:spPr>
          <a:xfrm>
            <a:off x="5733288" y="1856232"/>
            <a:ext cx="658368" cy="65836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8" name="Image 4" descr="/home/claude/proj/icons/tool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1296" y="2014240"/>
            <a:ext cx="342351" cy="3423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11496" y="260604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093208" y="1746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1" name="Image 5" descr="/home/claude/proj/icons/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604" y="2409444"/>
            <a:ext cx="164592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278624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Shape 15"/>
          <p:cNvSpPr/>
          <p:nvPr/>
        </p:nvSpPr>
        <p:spPr>
          <a:xfrm>
            <a:off x="7991856" y="1856232"/>
            <a:ext cx="658368" cy="65836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4" name="Image 6" descr="/home/claude/proj/icons/scisso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9864" y="2014240"/>
            <a:ext cx="342351" cy="34235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70064" y="260604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7351776" y="1746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7" name="Image 7" descr="/home/claude/proj/icons/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172" y="2409444"/>
            <a:ext cx="164592" cy="16459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537192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9" name="Shape 19"/>
          <p:cNvSpPr/>
          <p:nvPr/>
        </p:nvSpPr>
        <p:spPr>
          <a:xfrm>
            <a:off x="10250424" y="1856232"/>
            <a:ext cx="658368" cy="65836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0" name="Image 8" descr="/home/claude/proj/icons/chartli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8432" y="2014240"/>
            <a:ext cx="342351" cy="342351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628632" y="260604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</p:txBody>
      </p:sp>
      <p:sp>
        <p:nvSpPr>
          <p:cNvPr id="32" name="Text 21"/>
          <p:cNvSpPr/>
          <p:nvPr/>
        </p:nvSpPr>
        <p:spPr>
          <a:xfrm>
            <a:off x="9610344" y="1746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3" name="Image 9" descr="/home/claude/proj/icons/arrowdown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7312" y="3461004"/>
            <a:ext cx="164592" cy="164592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9537192" y="37947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5" name="Shape 23"/>
          <p:cNvSpPr/>
          <p:nvPr/>
        </p:nvSpPr>
        <p:spPr>
          <a:xfrm>
            <a:off x="10250424" y="3959352"/>
            <a:ext cx="658368" cy="65836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6" name="Image 10" descr="/home/claude/proj/icons/tre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8432" y="4117360"/>
            <a:ext cx="342351" cy="342351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628632" y="47091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38" name="Text 25"/>
          <p:cNvSpPr/>
          <p:nvPr/>
        </p:nvSpPr>
        <p:spPr>
          <a:xfrm>
            <a:off x="9610344" y="3849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9" name="Image 11" descr="/home/claude/proj/icons/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635740" y="4512564"/>
            <a:ext cx="164592" cy="164592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7278624" y="37947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Shape 27"/>
          <p:cNvSpPr/>
          <p:nvPr/>
        </p:nvSpPr>
        <p:spPr>
          <a:xfrm>
            <a:off x="7991856" y="3959352"/>
            <a:ext cx="658368" cy="65836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42" name="Image 12" descr="/home/claude/proj/icons/layergroup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9864" y="4117360"/>
            <a:ext cx="342351" cy="342351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7370064" y="47091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150" dirty="0"/>
          </a:p>
        </p:txBody>
      </p:sp>
      <p:sp>
        <p:nvSpPr>
          <p:cNvPr id="44" name="Text 29"/>
          <p:cNvSpPr/>
          <p:nvPr/>
        </p:nvSpPr>
        <p:spPr>
          <a:xfrm>
            <a:off x="7351776" y="3849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5" name="Image 13" descr="/home/claude/proj/icons/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377172" y="4512564"/>
            <a:ext cx="164592" cy="164592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5020056" y="37947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7" name="Shape 31"/>
          <p:cNvSpPr/>
          <p:nvPr/>
        </p:nvSpPr>
        <p:spPr>
          <a:xfrm>
            <a:off x="5733288" y="3959352"/>
            <a:ext cx="658368" cy="65836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48" name="Image 14" descr="/home/claude/proj/icons/rocket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1296" y="4117360"/>
            <a:ext cx="342351" cy="342351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111496" y="47091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50" name="Text 33"/>
          <p:cNvSpPr/>
          <p:nvPr/>
        </p:nvSpPr>
        <p:spPr>
          <a:xfrm>
            <a:off x="5093208" y="3849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1" name="Image 15" descr="/home/claude/proj/icons/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118604" y="4512564"/>
            <a:ext cx="164592" cy="164592"/>
          </a:xfrm>
          <a:prstGeom prst="rect">
            <a:avLst/>
          </a:prstGeom>
        </p:spPr>
      </p:pic>
      <p:sp>
        <p:nvSpPr>
          <p:cNvPr id="52" name="Shape 34"/>
          <p:cNvSpPr/>
          <p:nvPr/>
        </p:nvSpPr>
        <p:spPr>
          <a:xfrm>
            <a:off x="2761488" y="37947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3" name="Shape 35"/>
          <p:cNvSpPr/>
          <p:nvPr/>
        </p:nvSpPr>
        <p:spPr>
          <a:xfrm>
            <a:off x="3474720" y="3959352"/>
            <a:ext cx="658368" cy="658368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54" name="Image 16" descr="/home/claude/proj/icons/balancescale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32728" y="4117360"/>
            <a:ext cx="342351" cy="342351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2852928" y="47091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150" dirty="0"/>
          </a:p>
        </p:txBody>
      </p:sp>
      <p:sp>
        <p:nvSpPr>
          <p:cNvPr id="56" name="Text 37"/>
          <p:cNvSpPr/>
          <p:nvPr/>
        </p:nvSpPr>
        <p:spPr>
          <a:xfrm>
            <a:off x="2834640" y="3849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7" name="Image 17" descr="/home/claude/proj/icons/arrowrigh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860036" y="4512564"/>
            <a:ext cx="164592" cy="164592"/>
          </a:xfrm>
          <a:prstGeom prst="rect">
            <a:avLst/>
          </a:prstGeom>
        </p:spPr>
      </p:pic>
      <p:sp>
        <p:nvSpPr>
          <p:cNvPr id="58" name="Shape 38"/>
          <p:cNvSpPr/>
          <p:nvPr/>
        </p:nvSpPr>
        <p:spPr>
          <a:xfrm>
            <a:off x="502920" y="37947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9" name="Shape 39"/>
          <p:cNvSpPr/>
          <p:nvPr/>
        </p:nvSpPr>
        <p:spPr>
          <a:xfrm>
            <a:off x="1216152" y="3959352"/>
            <a:ext cx="658368" cy="658368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0" name="Image 18" descr="/home/claude/proj/icons/trophy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4160" y="4117360"/>
            <a:ext cx="342351" cy="342351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594360" y="470916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50" dirty="0"/>
          </a:p>
        </p:txBody>
      </p:sp>
      <p:sp>
        <p:nvSpPr>
          <p:cNvPr id="62" name="Text 41"/>
          <p:cNvSpPr/>
          <p:nvPr/>
        </p:nvSpPr>
        <p:spPr>
          <a:xfrm>
            <a:off x="576072" y="3849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3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64" name="Text 4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65" name="Shape 4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32888" cy="4343400"/>
          </a:xfrm>
          <a:prstGeom prst="roundRect">
            <a:avLst>
              <a:gd name="adj" fmla="val 3249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1403604" y="1828800"/>
            <a:ext cx="822960" cy="822960"/>
          </a:xfrm>
          <a:prstGeom prst="ellipse">
            <a:avLst/>
          </a:prstGeom>
          <a:solidFill>
            <a:srgbClr val="6D2E4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0" descr="/home/claude/proj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114" y="2026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Simple baseline model assuming a linear relationship between features and target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 to train and highly interpretable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493776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Struggles with non-linear energy consumption patterns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01568" y="1554480"/>
            <a:ext cx="2532888" cy="4343400"/>
          </a:xfrm>
          <a:prstGeom prst="roundRect">
            <a:avLst>
              <a:gd name="adj" fmla="val 3249"/>
            </a:avLst>
          </a:prstGeom>
          <a:solidFill>
            <a:srgbClr val="F3E7EA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2" name="Shape 9"/>
          <p:cNvSpPr/>
          <p:nvPr/>
        </p:nvSpPr>
        <p:spPr>
          <a:xfrm>
            <a:off x="4256532" y="1828800"/>
            <a:ext cx="822960" cy="822960"/>
          </a:xfrm>
          <a:prstGeom prst="ellipse">
            <a:avLst/>
          </a:prstGeom>
          <a:solidFill>
            <a:srgbClr val="6D2E4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3" name="Image 1" descr="/home/claude/proj/icons/tre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042" y="202631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28346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84448" y="338328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Ensemble of decision trees trained on random data &amp; feature subsets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84448" y="41605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Reduces overfitting via bagging and averaging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84448" y="493776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Handles non-linearity and feature interactions well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54496" y="1554480"/>
            <a:ext cx="2532888" cy="4343400"/>
          </a:xfrm>
          <a:prstGeom prst="roundRect">
            <a:avLst>
              <a:gd name="adj" fmla="val 3249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9" name="Shape 15"/>
          <p:cNvSpPr/>
          <p:nvPr/>
        </p:nvSpPr>
        <p:spPr>
          <a:xfrm>
            <a:off x="7109460" y="1828800"/>
            <a:ext cx="822960" cy="822960"/>
          </a:xfrm>
          <a:prstGeom prst="ellipse">
            <a:avLst/>
          </a:prstGeom>
          <a:solidFill>
            <a:srgbClr val="6D2E4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0" name="Image 2" descr="/home/claude/proj/icons/layergro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970" y="202631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1656" y="28346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437376" y="338328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Extremely Randomized Trees add further randomness in split selection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37376" y="41605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Faster training with typically lower variance than Random Forest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37376" y="493776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Achieved the best performance in this study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107424" y="1554480"/>
            <a:ext cx="2532888" cy="4343400"/>
          </a:xfrm>
          <a:prstGeom prst="roundRect">
            <a:avLst>
              <a:gd name="adj" fmla="val 3249"/>
            </a:avLst>
          </a:prstGeom>
          <a:solidFill>
            <a:srgbClr val="F3E7EA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6" name="Shape 21"/>
          <p:cNvSpPr/>
          <p:nvPr/>
        </p:nvSpPr>
        <p:spPr>
          <a:xfrm>
            <a:off x="9962388" y="1828800"/>
            <a:ext cx="822960" cy="822960"/>
          </a:xfrm>
          <a:prstGeom prst="ellipse">
            <a:avLst/>
          </a:prstGeom>
          <a:solidFill>
            <a:srgbClr val="6D2E4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7" name="Image 3" descr="/home/claude/proj/icons/rock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9898" y="2026310"/>
            <a:ext cx="427939" cy="42793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44584" y="28346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290304" y="338328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Gradient boosting framework building trees sequentially to fix errors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290304" y="416052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Regularization helps control overfitting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290304" y="4937760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Highly competitive on structured/tabular data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Comparison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74920" y="153619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9E6B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5074920" y="15361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920240"/>
          <a:ext cx="58521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67512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965960"/>
          <a:ext cx="4937760" cy="2194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675120" y="4434840"/>
            <a:ext cx="4937760" cy="1463040"/>
          </a:xfrm>
          <a:prstGeom prst="roundRect">
            <a:avLst>
              <a:gd name="adj" fmla="val 5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6903720" y="4617720"/>
            <a:ext cx="548640" cy="548640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2" name="Image 0" descr="/home/claude/proj/icons/troph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394" y="47493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9520" y="452628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achieved the best performance among all tested models, with the highest R² score of 0.636, demonstrating superior ability to capture non-linear consumption patterns.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98878" cy="4297680"/>
          </a:xfrm>
          <a:prstGeom prst="roundRect">
            <a:avLst>
              <a:gd name="adj" fmla="val 4117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1182319" y="1874520"/>
            <a:ext cx="731520" cy="731520"/>
          </a:xfrm>
          <a:prstGeom prst="ellipse">
            <a:avLst/>
          </a:prstGeom>
          <a:solidFill>
            <a:srgbClr val="C9871F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0" descr="/home/claude/proj/icons/filea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84" y="20500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Format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3611880"/>
            <a:ext cx="166969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was available in JSON format, requiring custom parsing before analysis could begin.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2821838" y="1600200"/>
            <a:ext cx="1998878" cy="4297680"/>
          </a:xfrm>
          <a:prstGeom prst="roundRect">
            <a:avLst>
              <a:gd name="adj" fmla="val 4117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0" name="Shape 7"/>
          <p:cNvSpPr/>
          <p:nvPr/>
        </p:nvSpPr>
        <p:spPr>
          <a:xfrm>
            <a:off x="3455518" y="1874520"/>
            <a:ext cx="731520" cy="731520"/>
          </a:xfrm>
          <a:prstGeom prst="ellipse">
            <a:avLst/>
          </a:prstGeom>
          <a:solidFill>
            <a:srgbClr val="C9871F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1" name="Image 1" descr="/home/claude/proj/icons/tool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082" y="20500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8998" y="28346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Installation Issues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86430" y="3611880"/>
            <a:ext cx="166969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Python library installation and dependency conflicts slowed down initial setup.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095037" y="1600200"/>
            <a:ext cx="1998878" cy="4297680"/>
          </a:xfrm>
          <a:prstGeom prst="roundRect">
            <a:avLst>
              <a:gd name="adj" fmla="val 4117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Shape 11"/>
          <p:cNvSpPr/>
          <p:nvPr/>
        </p:nvSpPr>
        <p:spPr>
          <a:xfrm>
            <a:off x="5728716" y="1874520"/>
            <a:ext cx="731520" cy="731520"/>
          </a:xfrm>
          <a:prstGeom prst="ellipse">
            <a:avLst/>
          </a:prstGeom>
          <a:solidFill>
            <a:srgbClr val="C9871F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6" name="Image 2" descr="/home/claude/proj/icons/exclamati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281" y="20500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2197" y="28346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Linear Regression Accuracy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259629" y="3611880"/>
            <a:ext cx="166969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produced a low R² (0.17), reflecting the non-linear nature of the data.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7368235" y="1600200"/>
            <a:ext cx="1998878" cy="4297680"/>
          </a:xfrm>
          <a:prstGeom prst="roundRect">
            <a:avLst>
              <a:gd name="adj" fmla="val 4117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0" name="Shape 15"/>
          <p:cNvSpPr/>
          <p:nvPr/>
        </p:nvSpPr>
        <p:spPr>
          <a:xfrm>
            <a:off x="8001914" y="1874520"/>
            <a:ext cx="731520" cy="731520"/>
          </a:xfrm>
          <a:prstGeom prst="ellipse">
            <a:avLst/>
          </a:prstGeom>
          <a:solidFill>
            <a:srgbClr val="C9871F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1" name="Image 3" descr="/home/claude/proj/icon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7479" y="20500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05395" y="28346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Required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532827" y="3611880"/>
            <a:ext cx="166969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model parameters were suboptimal; tuning is required to unlock further gains.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9641434" y="1600200"/>
            <a:ext cx="1998878" cy="4297680"/>
          </a:xfrm>
          <a:prstGeom prst="roundRect">
            <a:avLst>
              <a:gd name="adj" fmla="val 4117"/>
            </a:avLst>
          </a:prstGeom>
          <a:solidFill>
            <a:srgbClr val="FBF5F3"/>
          </a:solidFill>
          <a:ln w="12700">
            <a:solidFill>
              <a:srgbClr val="F3E7E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Shape 19"/>
          <p:cNvSpPr/>
          <p:nvPr/>
        </p:nvSpPr>
        <p:spPr>
          <a:xfrm>
            <a:off x="10275113" y="1874520"/>
            <a:ext cx="731520" cy="731520"/>
          </a:xfrm>
          <a:prstGeom prst="ellipse">
            <a:avLst/>
          </a:prstGeom>
          <a:solidFill>
            <a:srgbClr val="C9871F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6" name="Image 4" descr="/home/claude/proj/icons/bu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0678" y="205008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78594" y="2834640"/>
            <a:ext cx="1724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Model Optimization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806026" y="3611880"/>
            <a:ext cx="166969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 efforts are still in progress to improve overall prediction accuracy.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58952"/>
          </a:xfrm>
          <a:prstGeom prst="roundRect">
            <a:avLst>
              <a:gd name="adj" fmla="val 8434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713232" y="1687068"/>
            <a:ext cx="585216" cy="585216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0" descr="/home/claude/proj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4" y="1827520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55064"/>
            <a:ext cx="2834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26280" y="1655064"/>
            <a:ext cx="6949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Grid Search / Random Search / Bayesian optimization to squeeze out further accuracy gains.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11091672" cy="758952"/>
          </a:xfrm>
          <a:prstGeom prst="roundRect">
            <a:avLst>
              <a:gd name="adj" fmla="val 8434"/>
            </a:avLst>
          </a:prstGeom>
          <a:solidFill>
            <a:srgbClr val="F3E7EA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0" name="Shape 7"/>
          <p:cNvSpPr/>
          <p:nvPr/>
        </p:nvSpPr>
        <p:spPr>
          <a:xfrm>
            <a:off x="713232" y="2583180"/>
            <a:ext cx="585216" cy="585216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1" name="Image 1" descr="/home/claude/proj/icons/tool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4" y="2723632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551176"/>
            <a:ext cx="2834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Feature Engineering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551176"/>
            <a:ext cx="6949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lag features, rolling statistics, and interaction terms to enrich the feature space.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92424"/>
            <a:ext cx="11091672" cy="758952"/>
          </a:xfrm>
          <a:prstGeom prst="roundRect">
            <a:avLst>
              <a:gd name="adj" fmla="val 8434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Shape 11"/>
          <p:cNvSpPr/>
          <p:nvPr/>
        </p:nvSpPr>
        <p:spPr>
          <a:xfrm>
            <a:off x="713232" y="3479292"/>
            <a:ext cx="585216" cy="585216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6" name="Image 2" descr="/home/claude/proj/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84" y="3619744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447288"/>
            <a:ext cx="2834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Validation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26280" y="3447288"/>
            <a:ext cx="6949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time-aware train/validation splits to better reflect real-world forecasting conditions.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88536"/>
            <a:ext cx="11091672" cy="758952"/>
          </a:xfrm>
          <a:prstGeom prst="roundRect">
            <a:avLst>
              <a:gd name="adj" fmla="val 8434"/>
            </a:avLst>
          </a:prstGeom>
          <a:solidFill>
            <a:srgbClr val="F3E7EA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0" name="Shape 15"/>
          <p:cNvSpPr/>
          <p:nvPr/>
        </p:nvSpPr>
        <p:spPr>
          <a:xfrm>
            <a:off x="713232" y="4375404"/>
            <a:ext cx="585216" cy="585216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1" name="Image 3" descr="/home/claude/proj/icons/layergro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84" y="4515856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343400"/>
            <a:ext cx="2834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Ensemble Models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26280" y="4343400"/>
            <a:ext cx="6949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stacking, blending, and boosted ensembles for stronger predictive power.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84648"/>
            <a:ext cx="11091672" cy="758952"/>
          </a:xfrm>
          <a:prstGeom prst="roundRect">
            <a:avLst>
              <a:gd name="adj" fmla="val 8434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5" name="Shape 19"/>
          <p:cNvSpPr/>
          <p:nvPr/>
        </p:nvSpPr>
        <p:spPr>
          <a:xfrm>
            <a:off x="713232" y="5271516"/>
            <a:ext cx="585216" cy="585216"/>
          </a:xfrm>
          <a:prstGeom prst="ellipse">
            <a:avLst/>
          </a:prstGeom>
          <a:solidFill>
            <a:srgbClr val="954C66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6" name="Image 4" descr="/home/claude/proj/icons/serv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684" y="5411968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239512"/>
            <a:ext cx="2834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Deployment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5239512"/>
            <a:ext cx="6949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best model behind a Flask REST API for real-time, production-ready predictions.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954C66">
              <a:alpha val="30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B5495B">
              <a:alpha val="25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5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Shape 5"/>
          <p:cNvSpPr/>
          <p:nvPr/>
        </p:nvSpPr>
        <p:spPr>
          <a:xfrm>
            <a:off x="777240" y="2048256"/>
            <a:ext cx="603504" cy="603504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8" name="Image 0" descr="/home/claude/proj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1" y="2193097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745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household energy dataset was successfully loaded, cleaned, and analyzed end-to-end.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99008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Shape 8"/>
          <p:cNvSpPr/>
          <p:nvPr/>
        </p:nvSpPr>
        <p:spPr>
          <a:xfrm>
            <a:off x="777240" y="3163824"/>
            <a:ext cx="603504" cy="603504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2" name="Image 1" descr="/home/claude/proj/icons/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81" y="3308665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90088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machine learning models were trained and rigorously compared under identical conditions.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10565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Shape 11"/>
          <p:cNvSpPr/>
          <p:nvPr/>
        </p:nvSpPr>
        <p:spPr>
          <a:xfrm>
            <a:off x="777240" y="4279392"/>
            <a:ext cx="603504" cy="603504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6" name="Image 2" descr="/home/claude/proj/icons/troph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81" y="44242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05656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was selected as the best-performing model in current experiments, with R² ≈ 0.636.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548640" y="522122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Shape 14"/>
          <p:cNvSpPr/>
          <p:nvPr/>
        </p:nvSpPr>
        <p:spPr>
          <a:xfrm>
            <a:off x="777240" y="5394960"/>
            <a:ext cx="603504" cy="603504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20" name="Image 3" descr="/home/claude/proj/icons/chart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81" y="5539801"/>
            <a:ext cx="313822" cy="3138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hyperparameter tuning and feature engineering are expected to improve performance further.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5943600" cy="5943600"/>
          </a:xfrm>
          <a:prstGeom prst="ellipse">
            <a:avLst/>
          </a:prstGeom>
          <a:solidFill>
            <a:srgbClr val="954C66">
              <a:alpha val="30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9692640" y="5120640"/>
            <a:ext cx="4114800" cy="4114800"/>
          </a:xfrm>
          <a:prstGeom prst="ellipse">
            <a:avLst/>
          </a:prstGeom>
          <a:solidFill>
            <a:srgbClr val="B5495B">
              <a:alpha val="25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954C66">
              <a:alpha val="35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5592928" y="1554480"/>
            <a:ext cx="1005840" cy="1005840"/>
          </a:xfrm>
          <a:prstGeom prst="ellipse">
            <a:avLst/>
          </a:prstGeom>
          <a:solidFill>
            <a:srgbClr val="B5495B"/>
          </a:solidFill>
          <a:ln/>
          <a:effectLst>
            <a:outerShdw blurRad="76200" dist="25400" dir="5400000" algn="bl" rotWithShape="0">
              <a:srgbClr val="5B6B7C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0" descr="/home/claude/proj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79588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Prediction using Machine Learning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1147</Words>
  <Application>Microsoft Office PowerPoint</Application>
  <PresentationFormat>Widescreen</PresentationFormat>
  <Paragraphs>293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goyal</cp:lastModifiedBy>
  <cp:revision>1</cp:revision>
  <dcterms:created xsi:type="dcterms:W3CDTF">2026-08-08T15:51:11Z</dcterms:created>
  <dcterms:modified xsi:type="dcterms:W3CDTF">2026-08-08T16:58:44Z</dcterms:modified>
</cp:coreProperties>
</file>